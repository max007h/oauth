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5143500" cy="9144000"/>
  <p:embeddedFontLst>
    <p:embeddedFont>
      <p:font typeface="Inter Light"/>
      <p:regular r:id="rId17"/>
      <p:bold r:id="rId18"/>
      <p:italic r:id="rId19"/>
      <p:boldItalic r:id="rId20"/>
    </p:embeddedFont>
    <p:embeddedFont>
      <p:font typeface="Inter"/>
      <p:regular r:id="rId21"/>
      <p:bold r:id="rId22"/>
      <p:italic r:id="rId23"/>
      <p:boldItalic r:id="rId24"/>
    </p:embeddedFont>
    <p:embeddedFont>
      <p:font typeface="Inter ExtraBold"/>
      <p:bold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jll22UW1W5jbKfxw6x9wZQpAEeX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InterLight-boldItalic.fntdata"/><Relationship Id="rId22" Type="http://schemas.openxmlformats.org/officeDocument/2006/relationships/font" Target="fonts/Inter-bold.fntdata"/><Relationship Id="rId21" Type="http://schemas.openxmlformats.org/officeDocument/2006/relationships/font" Target="fonts/Inter-regular.fntdata"/><Relationship Id="rId24" Type="http://schemas.openxmlformats.org/officeDocument/2006/relationships/font" Target="fonts/Inter-boldItalic.fntdata"/><Relationship Id="rId23" Type="http://schemas.openxmlformats.org/officeDocument/2006/relationships/font" Target="fonts/Inter-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InterExtraBold-boldItalic.fntdata"/><Relationship Id="rId25" Type="http://schemas.openxmlformats.org/officeDocument/2006/relationships/font" Target="fonts/InterExtraBold-bold.fntdata"/><Relationship Id="rId27"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InterLight-regular.fntdata"/><Relationship Id="rId16" Type="http://schemas.openxmlformats.org/officeDocument/2006/relationships/slide" Target="slides/slide12.xml"/><Relationship Id="rId19" Type="http://schemas.openxmlformats.org/officeDocument/2006/relationships/font" Target="fonts/InterLight-italic.fntdata"/><Relationship Id="rId18" Type="http://schemas.openxmlformats.org/officeDocument/2006/relationships/font" Target="fonts/InterLigh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 name="Google Shape;4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 name="Google Shape;4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d9f11b2db1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g3d9f11b2db1_0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g3d9f11b2db1_0_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7.jp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7.jpg"/><Relationship Id="rId4"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7.jpg"/><Relationship Id="rId4" Type="http://schemas.openxmlformats.org/officeDocument/2006/relationships/image" Target="../media/image6.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9.jp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2.jpg"/><Relationship Id="rId4" Type="http://schemas.openxmlformats.org/officeDocument/2006/relationships/image" Target="../media/image20.png"/><Relationship Id="rId5" Type="http://schemas.openxmlformats.org/officeDocument/2006/relationships/image" Target="../media/image9.png"/><Relationship Id="rId6"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8.jpg"/><Relationship Id="rId4" Type="http://schemas.openxmlformats.org/officeDocument/2006/relationships/image" Target="../media/image14.png"/><Relationship Id="rId11" Type="http://schemas.openxmlformats.org/officeDocument/2006/relationships/image" Target="../media/image16.png"/><Relationship Id="rId10" Type="http://schemas.openxmlformats.org/officeDocument/2006/relationships/image" Target="../media/image18.png"/><Relationship Id="rId9" Type="http://schemas.openxmlformats.org/officeDocument/2006/relationships/image" Target="../media/image15.png"/><Relationship Id="rId5" Type="http://schemas.openxmlformats.org/officeDocument/2006/relationships/image" Target="../media/image13.png"/><Relationship Id="rId6" Type="http://schemas.openxmlformats.org/officeDocument/2006/relationships/image" Target="../media/image11.png"/><Relationship Id="rId7" Type="http://schemas.openxmlformats.org/officeDocument/2006/relationships/image" Target="../media/image17.png"/><Relationship Id="rId8"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3.jpg"/><Relationship Id="rId4" Type="http://schemas.openxmlformats.org/officeDocument/2006/relationships/image" Target="../media/image21.png"/><Relationship Id="rId9" Type="http://schemas.openxmlformats.org/officeDocument/2006/relationships/image" Target="../media/image26.png"/><Relationship Id="rId5" Type="http://schemas.openxmlformats.org/officeDocument/2006/relationships/image" Target="../media/image23.png"/><Relationship Id="rId6" Type="http://schemas.openxmlformats.org/officeDocument/2006/relationships/image" Target="../media/image22.png"/><Relationship Id="rId7" Type="http://schemas.openxmlformats.org/officeDocument/2006/relationships/image" Target="../media/image24.png"/><Relationship Id="rId8"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1.png"/><Relationship Id="rId4" Type="http://schemas.openxmlformats.org/officeDocument/2006/relationships/image" Target="../media/image28.png"/><Relationship Id="rId5"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pic>
        <p:nvPicPr>
          <p:cNvPr descr="preencoded.png" id="16" name="Google Shape;16;p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7" name="Google Shape;17;p1"/>
          <p:cNvSpPr/>
          <p:nvPr/>
        </p:nvSpPr>
        <p:spPr>
          <a:xfrm>
            <a:off x="714375" y="720291"/>
            <a:ext cx="4514850" cy="2011635"/>
          </a:xfrm>
          <a:prstGeom prst="rect">
            <a:avLst/>
          </a:prstGeom>
          <a:noFill/>
          <a:ln>
            <a:noFill/>
          </a:ln>
        </p:spPr>
        <p:txBody>
          <a:bodyPr anchorCtr="0" anchor="t" bIns="0" lIns="0" spcFirstLastPara="1" rIns="0" wrap="square" tIns="0">
            <a:spAutoFit/>
          </a:bodyPr>
          <a:lstStyle/>
          <a:p>
            <a:pPr indent="0" lvl="0" marL="0" marR="0" rtl="0" algn="l">
              <a:lnSpc>
                <a:spcPct val="88000"/>
              </a:lnSpc>
              <a:spcBef>
                <a:spcPts val="0"/>
              </a:spcBef>
              <a:spcAft>
                <a:spcPts val="0"/>
              </a:spcAft>
              <a:buClr>
                <a:srgbClr val="0A192F"/>
              </a:buClr>
              <a:buSzPts val="3300"/>
              <a:buFont typeface="Inter ExtraBold"/>
              <a:buNone/>
            </a:pPr>
            <a:r>
              <a:rPr b="1" i="0" lang="en-US" sz="3300" u="none" cap="none" strike="noStrike">
                <a:solidFill>
                  <a:srgbClr val="0A192F"/>
                </a:solidFill>
                <a:latin typeface="Inter ExtraBold"/>
                <a:ea typeface="Inter ExtraBold"/>
                <a:cs typeface="Inter ExtraBold"/>
                <a:sym typeface="Inter ExtraBold"/>
              </a:rPr>
              <a:t>Offre de Services : Accompagnement Cybersécurité des Développeurs</a:t>
            </a:r>
            <a:endParaRPr b="0" i="0" sz="3300" u="none" cap="none" strike="noStrike">
              <a:solidFill>
                <a:schemeClr val="dk1"/>
              </a:solidFill>
              <a:latin typeface="Calibri"/>
              <a:ea typeface="Calibri"/>
              <a:cs typeface="Calibri"/>
              <a:sym typeface="Calibri"/>
            </a:endParaRPr>
          </a:p>
        </p:txBody>
      </p:sp>
      <p:sp>
        <p:nvSpPr>
          <p:cNvPr id="18" name="Google Shape;18;p1"/>
          <p:cNvSpPr/>
          <p:nvPr/>
        </p:nvSpPr>
        <p:spPr>
          <a:xfrm>
            <a:off x="714375" y="3260564"/>
            <a:ext cx="4514850" cy="2768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333F58"/>
              </a:buClr>
              <a:buSzPts val="1700"/>
              <a:buFont typeface="Inter Light"/>
              <a:buNone/>
            </a:pPr>
            <a:r>
              <a:rPr lang="en-US" sz="1700">
                <a:solidFill>
                  <a:srgbClr val="333F58"/>
                </a:solidFill>
                <a:latin typeface="Inter Light"/>
                <a:ea typeface="Inter Light"/>
                <a:cs typeface="Inter Light"/>
                <a:sym typeface="Inter Light"/>
              </a:rPr>
              <a:t>devSec</a:t>
            </a:r>
            <a:r>
              <a:rPr b="0" i="0" lang="en-US" sz="1700" u="none" cap="none" strike="noStrike">
                <a:solidFill>
                  <a:srgbClr val="333F58"/>
                </a:solidFill>
                <a:latin typeface="Inter Light"/>
                <a:ea typeface="Inter Light"/>
                <a:cs typeface="Inter Light"/>
                <a:sym typeface="Inter Light"/>
              </a:rPr>
              <a:t> &amp; perspectives</a:t>
            </a:r>
            <a:endParaRPr b="0" i="0" sz="1700" u="none" cap="none" strike="noStrike">
              <a:solidFill>
                <a:schemeClr val="dk1"/>
              </a:solidFill>
              <a:latin typeface="Calibri"/>
              <a:ea typeface="Calibri"/>
              <a:cs typeface="Calibri"/>
              <a:sym typeface="Calibri"/>
            </a:endParaRPr>
          </a:p>
        </p:txBody>
      </p:sp>
      <p:sp>
        <p:nvSpPr>
          <p:cNvPr id="19" name="Google Shape;19;p1"/>
          <p:cNvSpPr/>
          <p:nvPr/>
        </p:nvSpPr>
        <p:spPr>
          <a:xfrm>
            <a:off x="714375" y="3966009"/>
            <a:ext cx="4514850" cy="228600"/>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Clr>
                <a:srgbClr val="0A192F"/>
              </a:buClr>
              <a:buSzPts val="1000"/>
              <a:buFont typeface="Inter ExtraBold"/>
              <a:buNone/>
            </a:pPr>
            <a:r>
              <a:rPr b="1" i="0" lang="en-US" sz="1000" u="none" cap="none" strike="noStrike">
                <a:solidFill>
                  <a:srgbClr val="0A192F"/>
                </a:solidFill>
                <a:latin typeface="Inter ExtraBold"/>
                <a:ea typeface="Inter ExtraBold"/>
                <a:cs typeface="Inter ExtraBold"/>
                <a:sym typeface="Inter ExtraBold"/>
              </a:rPr>
              <a:t>Présenté par :</a:t>
            </a:r>
            <a:r>
              <a:rPr b="0" i="0" lang="en-US" sz="1050" u="none" cap="none" strike="noStrike">
                <a:solidFill>
                  <a:srgbClr val="333F58"/>
                </a:solidFill>
                <a:latin typeface="Inter Light"/>
                <a:ea typeface="Inter Light"/>
                <a:cs typeface="Inter Light"/>
                <a:sym typeface="Inter Light"/>
              </a:rPr>
              <a:t> </a:t>
            </a:r>
            <a:r>
              <a:rPr lang="en-US" sz="1050">
                <a:solidFill>
                  <a:srgbClr val="333F58"/>
                </a:solidFill>
                <a:latin typeface="Inter Light"/>
                <a:ea typeface="Inter Light"/>
                <a:cs typeface="Inter Light"/>
                <a:sym typeface="Inter Light"/>
              </a:rPr>
              <a:t>L’équipe SECD</a:t>
            </a:r>
            <a:endParaRPr b="0" i="0" sz="1000" u="none" cap="none" strike="noStrike">
              <a:solidFill>
                <a:schemeClr val="dk1"/>
              </a:solidFill>
              <a:latin typeface="Calibri"/>
              <a:ea typeface="Calibri"/>
              <a:cs typeface="Calibri"/>
              <a:sym typeface="Calibri"/>
            </a:endParaRPr>
          </a:p>
        </p:txBody>
      </p:sp>
      <p:sp>
        <p:nvSpPr>
          <p:cNvPr id="20" name="Google Shape;20;p1"/>
          <p:cNvSpPr/>
          <p:nvPr/>
        </p:nvSpPr>
        <p:spPr>
          <a:xfrm>
            <a:off x="714375" y="4194609"/>
            <a:ext cx="4514850" cy="228600"/>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Clr>
                <a:srgbClr val="0A192F"/>
              </a:buClr>
              <a:buSzPts val="1000"/>
              <a:buFont typeface="Inter ExtraBold"/>
              <a:buNone/>
            </a:pPr>
            <a:r>
              <a:rPr b="1" i="0" lang="en-US" sz="1000" u="none" cap="none" strike="noStrike">
                <a:solidFill>
                  <a:srgbClr val="0A192F"/>
                </a:solidFill>
                <a:latin typeface="Inter ExtraBold"/>
                <a:ea typeface="Inter ExtraBold"/>
                <a:cs typeface="Inter ExtraBold"/>
                <a:sym typeface="Inter ExtraBold"/>
              </a:rPr>
              <a:t>Date :</a:t>
            </a:r>
            <a:r>
              <a:rPr b="0" i="0" lang="en-US" sz="1050" u="none" cap="none" strike="noStrike">
                <a:solidFill>
                  <a:srgbClr val="333F58"/>
                </a:solidFill>
                <a:latin typeface="Inter Light"/>
                <a:ea typeface="Inter Light"/>
                <a:cs typeface="Inter Light"/>
                <a:sym typeface="Inter Light"/>
              </a:rPr>
              <a:t> 28 avril 2026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 name="Shape 25"/>
        <p:cNvGrpSpPr/>
        <p:nvPr/>
      </p:nvGrpSpPr>
      <p:grpSpPr>
        <a:xfrm>
          <a:off x="0" y="0"/>
          <a:ext cx="0" cy="0"/>
          <a:chOff x="0" y="0"/>
          <a:chExt cx="0" cy="0"/>
        </a:xfrm>
      </p:grpSpPr>
      <p:pic>
        <p:nvPicPr>
          <p:cNvPr descr="preencoded.png" id="26" name="Google Shape;26;p2"/>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7" name="Google Shape;27;p2"/>
          <p:cNvSpPr/>
          <p:nvPr/>
        </p:nvSpPr>
        <p:spPr>
          <a:xfrm>
            <a:off x="0" y="0"/>
            <a:ext cx="9144000" cy="805458"/>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0" y="776883"/>
            <a:ext cx="9144000" cy="28575"/>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571500" y="357188"/>
            <a:ext cx="8001000" cy="2768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A192F"/>
              </a:buClr>
              <a:buSzPts val="1600"/>
              <a:buFont typeface="Inter ExtraBold"/>
              <a:buNone/>
            </a:pPr>
            <a:r>
              <a:rPr b="1" i="0" lang="en-US" sz="1600" u="none" cap="none" strike="noStrike">
                <a:solidFill>
                  <a:srgbClr val="0A192F"/>
                </a:solidFill>
                <a:latin typeface="Inter ExtraBold"/>
                <a:ea typeface="Inter ExtraBold"/>
                <a:cs typeface="Inter ExtraBold"/>
                <a:sym typeface="Inter ExtraBold"/>
              </a:rPr>
              <a:t>Le défi : Concilier vélocité de développement et exigences de sécurité</a:t>
            </a:r>
            <a:endParaRPr b="0" i="0" sz="1600" u="none" cap="none" strike="noStrike">
              <a:solidFill>
                <a:schemeClr val="dk1"/>
              </a:solidFill>
              <a:latin typeface="Calibri"/>
              <a:ea typeface="Calibri"/>
              <a:cs typeface="Calibri"/>
              <a:sym typeface="Calibri"/>
            </a:endParaRPr>
          </a:p>
        </p:txBody>
      </p:sp>
      <p:sp>
        <p:nvSpPr>
          <p:cNvPr id="30" name="Google Shape;30;p2"/>
          <p:cNvSpPr/>
          <p:nvPr/>
        </p:nvSpPr>
        <p:spPr>
          <a:xfrm>
            <a:off x="571500" y="1062633"/>
            <a:ext cx="3407569" cy="1371600"/>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Clr>
                <a:srgbClr val="333F58"/>
              </a:buClr>
              <a:buSzPts val="1050"/>
              <a:buFont typeface="Inter Light"/>
              <a:buNone/>
            </a:pPr>
            <a:r>
              <a:rPr b="0" i="0" lang="en-US" sz="1050" u="none" cap="none" strike="noStrike">
                <a:solidFill>
                  <a:srgbClr val="333F58"/>
                </a:solidFill>
                <a:latin typeface="Inter Light"/>
                <a:ea typeface="Inter Light"/>
                <a:cs typeface="Inter Light"/>
                <a:sym typeface="Inter Light"/>
              </a:rPr>
              <a:t>La banque durcit ses contrôles avec l'arrivée imminente des </a:t>
            </a:r>
            <a:r>
              <a:rPr b="1" i="0" lang="en-US" sz="1000" u="none" cap="none" strike="noStrike">
                <a:solidFill>
                  <a:srgbClr val="0A192F"/>
                </a:solidFill>
                <a:latin typeface="Inter ExtraBold"/>
                <a:ea typeface="Inter ExtraBold"/>
                <a:cs typeface="Inter ExtraBold"/>
                <a:sym typeface="Inter ExtraBold"/>
              </a:rPr>
              <a:t>Security Gates</a:t>
            </a:r>
            <a:r>
              <a:rPr b="0" i="0" lang="en-US" sz="1050" u="none" cap="none" strike="noStrike">
                <a:solidFill>
                  <a:srgbClr val="333F58"/>
                </a:solidFill>
                <a:latin typeface="Inter Light"/>
                <a:ea typeface="Inter Light"/>
                <a:cs typeface="Inter Light"/>
                <a:sym typeface="Inter Light"/>
              </a:rPr>
              <a:t> obligatoires dans les pipelines CI/CD. Sans un support structuré, le risque est de bloquer la production et de créer une rupture entre les équipes Cyber et les Développeurs.</a:t>
            </a:r>
            <a:endParaRPr b="0" i="0" sz="1050" u="none" cap="none" strike="noStrike">
              <a:solidFill>
                <a:schemeClr val="dk1"/>
              </a:solidFill>
              <a:latin typeface="Calibri"/>
              <a:ea typeface="Calibri"/>
              <a:cs typeface="Calibri"/>
              <a:sym typeface="Calibri"/>
            </a:endParaRPr>
          </a:p>
        </p:txBody>
      </p:sp>
      <p:sp>
        <p:nvSpPr>
          <p:cNvPr id="31" name="Google Shape;31;p2"/>
          <p:cNvSpPr/>
          <p:nvPr/>
        </p:nvSpPr>
        <p:spPr>
          <a:xfrm>
            <a:off x="571500" y="3962995"/>
            <a:ext cx="3407569" cy="17323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A192F"/>
              </a:buClr>
              <a:buSzPts val="1000"/>
              <a:buFont typeface="Inter ExtraBold"/>
              <a:buNone/>
            </a:pPr>
            <a:r>
              <a:rPr b="1" i="0" lang="en-US" sz="1000" u="none" cap="none" strike="noStrike">
                <a:solidFill>
                  <a:srgbClr val="0A192F"/>
                </a:solidFill>
                <a:latin typeface="Inter ExtraBold"/>
                <a:ea typeface="Inter ExtraBold"/>
                <a:cs typeface="Inter ExtraBold"/>
                <a:sym typeface="Inter ExtraBold"/>
              </a:rPr>
              <a:t>Notre réponse</a:t>
            </a:r>
            <a:endParaRPr b="0" i="0" sz="1000" u="none" cap="none" strike="noStrike">
              <a:solidFill>
                <a:schemeClr val="dk1"/>
              </a:solidFill>
              <a:latin typeface="Calibri"/>
              <a:ea typeface="Calibri"/>
              <a:cs typeface="Calibri"/>
              <a:sym typeface="Calibri"/>
            </a:endParaRPr>
          </a:p>
        </p:txBody>
      </p:sp>
      <p:sp>
        <p:nvSpPr>
          <p:cNvPr id="32" name="Google Shape;32;p2"/>
          <p:cNvSpPr/>
          <p:nvPr/>
        </p:nvSpPr>
        <p:spPr>
          <a:xfrm>
            <a:off x="571500" y="4207669"/>
            <a:ext cx="3407569" cy="578644"/>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B4D8"/>
              </a:buClr>
              <a:buSzPts val="900"/>
              <a:buFont typeface="Inter ExtraBold"/>
              <a:buNone/>
            </a:pPr>
            <a:r>
              <a:rPr b="1" i="0" lang="en-US" sz="900" u="none" cap="none" strike="noStrike">
                <a:solidFill>
                  <a:srgbClr val="00B4D8"/>
                </a:solidFill>
                <a:latin typeface="Inter ExtraBold"/>
                <a:ea typeface="Inter ExtraBold"/>
                <a:cs typeface="Inter ExtraBold"/>
                <a:sym typeface="Inter ExtraBold"/>
              </a:rPr>
              <a:t>Une offre de services à laquelle les équipes doivent souscrire pour bénéficier d'un accompagnement personnalisé et lever les blocages.</a:t>
            </a:r>
            <a:endParaRPr b="0" i="0" sz="900" u="none" cap="none" strike="noStrike">
              <a:solidFill>
                <a:schemeClr val="dk1"/>
              </a:solidFill>
              <a:latin typeface="Calibri"/>
              <a:ea typeface="Calibri"/>
              <a:cs typeface="Calibri"/>
              <a:sym typeface="Calibri"/>
            </a:endParaRPr>
          </a:p>
        </p:txBody>
      </p:sp>
      <p:sp>
        <p:nvSpPr>
          <p:cNvPr id="33" name="Google Shape;33;p2"/>
          <p:cNvSpPr/>
          <p:nvPr/>
        </p:nvSpPr>
        <p:spPr>
          <a:xfrm>
            <a:off x="4407694" y="1062633"/>
            <a:ext cx="4164806" cy="17323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A192F"/>
              </a:buClr>
              <a:buSzPts val="1000"/>
              <a:buFont typeface="Inter ExtraBold"/>
              <a:buNone/>
            </a:pPr>
            <a:r>
              <a:rPr b="1" i="0" lang="en-US" sz="1000" u="none" cap="none" strike="noStrike">
                <a:solidFill>
                  <a:srgbClr val="0A192F"/>
                </a:solidFill>
                <a:latin typeface="Inter ExtraBold"/>
                <a:ea typeface="Inter ExtraBold"/>
                <a:cs typeface="Inter ExtraBold"/>
                <a:sym typeface="Inter ExtraBold"/>
              </a:rPr>
              <a:t>LES POINTS DE FRICTION IDENTIFIÉS</a:t>
            </a:r>
            <a:endParaRPr b="0" i="0" sz="1000" u="none" cap="none" strike="noStrike">
              <a:solidFill>
                <a:schemeClr val="dk1"/>
              </a:solidFill>
              <a:latin typeface="Calibri"/>
              <a:ea typeface="Calibri"/>
              <a:cs typeface="Calibri"/>
              <a:sym typeface="Calibri"/>
            </a:endParaRPr>
          </a:p>
        </p:txBody>
      </p:sp>
      <p:pic>
        <p:nvPicPr>
          <p:cNvPr descr="preencoded.png" id="34" name="Google Shape;34;p2"/>
          <p:cNvPicPr preferRelativeResize="0"/>
          <p:nvPr/>
        </p:nvPicPr>
        <p:blipFill rotWithShape="1">
          <a:blip r:embed="rId4">
            <a:alphaModFix/>
          </a:blip>
          <a:srcRect b="0" l="0" r="0" t="0"/>
          <a:stretch/>
        </p:blipFill>
        <p:spPr>
          <a:xfrm>
            <a:off x="4407694" y="1478756"/>
            <a:ext cx="171450" cy="171450"/>
          </a:xfrm>
          <a:prstGeom prst="rect">
            <a:avLst/>
          </a:prstGeom>
          <a:noFill/>
          <a:ln>
            <a:noFill/>
          </a:ln>
        </p:spPr>
      </p:pic>
      <p:sp>
        <p:nvSpPr>
          <p:cNvPr id="35" name="Google Shape;35;p2"/>
          <p:cNvSpPr/>
          <p:nvPr/>
        </p:nvSpPr>
        <p:spPr>
          <a:xfrm>
            <a:off x="4722019" y="1450181"/>
            <a:ext cx="3850481" cy="385763"/>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333F58"/>
              </a:buClr>
              <a:buSzPts val="950"/>
              <a:buFont typeface="Inter Light"/>
              <a:buNone/>
            </a:pPr>
            <a:r>
              <a:rPr b="0" i="0" lang="en-US" sz="950" u="none" cap="none" strike="noStrike">
                <a:solidFill>
                  <a:srgbClr val="333F58"/>
                </a:solidFill>
                <a:latin typeface="Inter Light"/>
                <a:ea typeface="Inter Light"/>
                <a:cs typeface="Inter Light"/>
                <a:sym typeface="Inter Light"/>
              </a:rPr>
              <a:t>Des pipelines qui s'arrêtent sans explication claire pour le développeur.</a:t>
            </a:r>
            <a:endParaRPr b="0" i="0" sz="950" u="none" cap="none" strike="noStrike">
              <a:solidFill>
                <a:schemeClr val="dk1"/>
              </a:solidFill>
              <a:latin typeface="Calibri"/>
              <a:ea typeface="Calibri"/>
              <a:cs typeface="Calibri"/>
              <a:sym typeface="Calibri"/>
            </a:endParaRPr>
          </a:p>
        </p:txBody>
      </p:sp>
      <p:pic>
        <p:nvPicPr>
          <p:cNvPr descr="preencoded.png" id="36" name="Google Shape;36;p2"/>
          <p:cNvPicPr preferRelativeResize="0"/>
          <p:nvPr/>
        </p:nvPicPr>
        <p:blipFill rotWithShape="1">
          <a:blip r:embed="rId5">
            <a:alphaModFix/>
          </a:blip>
          <a:srcRect b="0" l="0" r="0" t="0"/>
          <a:stretch/>
        </p:blipFill>
        <p:spPr>
          <a:xfrm>
            <a:off x="4407694" y="2078831"/>
            <a:ext cx="128588" cy="171450"/>
          </a:xfrm>
          <a:prstGeom prst="rect">
            <a:avLst/>
          </a:prstGeom>
          <a:noFill/>
          <a:ln>
            <a:noFill/>
          </a:ln>
        </p:spPr>
      </p:pic>
      <p:sp>
        <p:nvSpPr>
          <p:cNvPr id="37" name="Google Shape;37;p2"/>
          <p:cNvSpPr/>
          <p:nvPr/>
        </p:nvSpPr>
        <p:spPr>
          <a:xfrm>
            <a:off x="4679156" y="2050256"/>
            <a:ext cx="3893344" cy="385763"/>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333F58"/>
              </a:buClr>
              <a:buSzPts val="950"/>
              <a:buFont typeface="Inter Light"/>
              <a:buNone/>
            </a:pPr>
            <a:r>
              <a:rPr b="0" i="0" lang="en-US" sz="950" u="none" cap="none" strike="noStrike">
                <a:solidFill>
                  <a:srgbClr val="333F58"/>
                </a:solidFill>
                <a:latin typeface="Inter Light"/>
                <a:ea typeface="Inter Light"/>
                <a:cs typeface="Inter Light"/>
                <a:sym typeface="Inter Light"/>
              </a:rPr>
              <a:t>Des rapports de vulnérabilités (SCA/SAST) perçus comme trop complexes.</a:t>
            </a:r>
            <a:endParaRPr b="0" i="0" sz="950" u="none" cap="none" strike="noStrike">
              <a:solidFill>
                <a:schemeClr val="dk1"/>
              </a:solidFill>
              <a:latin typeface="Calibri"/>
              <a:ea typeface="Calibri"/>
              <a:cs typeface="Calibri"/>
              <a:sym typeface="Calibri"/>
            </a:endParaRPr>
          </a:p>
        </p:txBody>
      </p:sp>
      <p:pic>
        <p:nvPicPr>
          <p:cNvPr descr="preencoded.png" id="38" name="Google Shape;38;p2"/>
          <p:cNvPicPr preferRelativeResize="0"/>
          <p:nvPr/>
        </p:nvPicPr>
        <p:blipFill rotWithShape="1">
          <a:blip r:embed="rId6">
            <a:alphaModFix/>
          </a:blip>
          <a:srcRect b="0" l="0" r="0" t="0"/>
          <a:stretch/>
        </p:blipFill>
        <p:spPr>
          <a:xfrm>
            <a:off x="4407694" y="2678906"/>
            <a:ext cx="128588" cy="171450"/>
          </a:xfrm>
          <a:prstGeom prst="rect">
            <a:avLst/>
          </a:prstGeom>
          <a:noFill/>
          <a:ln>
            <a:noFill/>
          </a:ln>
        </p:spPr>
      </p:pic>
      <p:sp>
        <p:nvSpPr>
          <p:cNvPr id="39" name="Google Shape;39;p2"/>
          <p:cNvSpPr/>
          <p:nvPr/>
        </p:nvSpPr>
        <p:spPr>
          <a:xfrm>
            <a:off x="4679156" y="2650331"/>
            <a:ext cx="3893344" cy="385763"/>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333F58"/>
              </a:buClr>
              <a:buSzPts val="950"/>
              <a:buFont typeface="Inter Light"/>
              <a:buNone/>
            </a:pPr>
            <a:r>
              <a:rPr b="0" i="0" lang="en-US" sz="950" u="none" cap="none" strike="noStrike">
                <a:solidFill>
                  <a:srgbClr val="333F58"/>
                </a:solidFill>
                <a:latin typeface="Inter Light"/>
                <a:ea typeface="Inter Light"/>
                <a:cs typeface="Inter Light"/>
                <a:sym typeface="Inter Light"/>
              </a:rPr>
              <a:t>Un besoin de remédiation post-pentest qui reste souvent en attente faute d'expertise dédiée côté dev.</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pic>
        <p:nvPicPr>
          <p:cNvPr descr="preencoded.png" id="45" name="Google Shape;45;p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46" name="Google Shape;46;p3"/>
          <p:cNvSpPr/>
          <p:nvPr/>
        </p:nvSpPr>
        <p:spPr>
          <a:xfrm>
            <a:off x="0" y="0"/>
            <a:ext cx="9144000" cy="805458"/>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3"/>
          <p:cNvSpPr/>
          <p:nvPr/>
        </p:nvSpPr>
        <p:spPr>
          <a:xfrm>
            <a:off x="0" y="776883"/>
            <a:ext cx="9144000" cy="28575"/>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3"/>
          <p:cNvSpPr/>
          <p:nvPr/>
        </p:nvSpPr>
        <p:spPr>
          <a:xfrm>
            <a:off x="571500" y="357188"/>
            <a:ext cx="8001000" cy="2768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A192F"/>
              </a:buClr>
              <a:buSzPts val="1600"/>
              <a:buFont typeface="Inter ExtraBold"/>
              <a:buNone/>
            </a:pPr>
            <a:r>
              <a:rPr b="1" lang="en-US" sz="1600">
                <a:solidFill>
                  <a:srgbClr val="0A192F"/>
                </a:solidFill>
                <a:latin typeface="Inter ExtraBold"/>
                <a:ea typeface="Inter ExtraBold"/>
                <a:cs typeface="Inter ExtraBold"/>
                <a:sym typeface="Inter ExtraBold"/>
              </a:rPr>
              <a:t>Gouvernance &amp; Cycle de Remédiation : L'Offre de Services en Action</a:t>
            </a:r>
            <a:r>
              <a:rPr lang="en-US" sz="1100">
                <a:solidFill>
                  <a:schemeClr val="dk1"/>
                </a:solidFill>
              </a:rPr>
              <a:t> </a:t>
            </a:r>
            <a:endParaRPr b="0" i="0" sz="1600" u="none" cap="none" strike="noStrike">
              <a:solidFill>
                <a:schemeClr val="dk1"/>
              </a:solidFill>
              <a:latin typeface="Calibri"/>
              <a:ea typeface="Calibri"/>
              <a:cs typeface="Calibri"/>
              <a:sym typeface="Calibri"/>
            </a:endParaRPr>
          </a:p>
        </p:txBody>
      </p:sp>
      <p:pic>
        <p:nvPicPr>
          <p:cNvPr id="49" name="Google Shape;49;p3"/>
          <p:cNvPicPr preferRelativeResize="0"/>
          <p:nvPr/>
        </p:nvPicPr>
        <p:blipFill>
          <a:blip r:embed="rId4">
            <a:alphaModFix/>
          </a:blip>
          <a:stretch>
            <a:fillRect/>
          </a:stretch>
        </p:blipFill>
        <p:spPr>
          <a:xfrm>
            <a:off x="5794471" y="827500"/>
            <a:ext cx="2597300" cy="4243675"/>
          </a:xfrm>
          <a:prstGeom prst="rect">
            <a:avLst/>
          </a:prstGeom>
          <a:noFill/>
          <a:ln>
            <a:noFill/>
          </a:ln>
        </p:spPr>
      </p:pic>
      <p:sp>
        <p:nvSpPr>
          <p:cNvPr id="50" name="Google Shape;50;p3"/>
          <p:cNvSpPr txBox="1"/>
          <p:nvPr/>
        </p:nvSpPr>
        <p:spPr>
          <a:xfrm>
            <a:off x="1229675" y="859902"/>
            <a:ext cx="343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Le </a:t>
            </a:r>
            <a:r>
              <a:rPr lang="en-US"/>
              <a:t>cycle de remédiation end-to-end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pic>
        <p:nvPicPr>
          <p:cNvPr descr="preencoded.png" id="56" name="Google Shape;56;g3d9f11b2db1_0_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57" name="Google Shape;57;g3d9f11b2db1_0_3"/>
          <p:cNvSpPr/>
          <p:nvPr/>
        </p:nvSpPr>
        <p:spPr>
          <a:xfrm>
            <a:off x="0" y="0"/>
            <a:ext cx="9144000" cy="8055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g3d9f11b2db1_0_3"/>
          <p:cNvSpPr/>
          <p:nvPr/>
        </p:nvSpPr>
        <p:spPr>
          <a:xfrm>
            <a:off x="0" y="776883"/>
            <a:ext cx="9144000" cy="28500"/>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g3d9f11b2db1_0_3"/>
          <p:cNvSpPr/>
          <p:nvPr/>
        </p:nvSpPr>
        <p:spPr>
          <a:xfrm>
            <a:off x="571500" y="357188"/>
            <a:ext cx="8001000" cy="276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192F"/>
              </a:buClr>
              <a:buSzPts val="1600"/>
              <a:buFont typeface="Inter ExtraBold"/>
              <a:buNone/>
            </a:pPr>
            <a:r>
              <a:rPr b="1" i="0" lang="en-US" sz="1600" u="none" cap="none" strike="noStrike">
                <a:solidFill>
                  <a:srgbClr val="0A192F"/>
                </a:solidFill>
                <a:latin typeface="Inter ExtraBold"/>
                <a:ea typeface="Inter ExtraBold"/>
                <a:cs typeface="Inter ExtraBold"/>
                <a:sym typeface="Inter ExtraBold"/>
              </a:rPr>
              <a:t>Notre mission : Faire de chaque développeur un acteur de la sécurité</a:t>
            </a:r>
            <a:endParaRPr b="0" i="0" sz="1600" u="none" cap="none" strike="noStrike">
              <a:solidFill>
                <a:schemeClr val="dk1"/>
              </a:solidFill>
              <a:latin typeface="Calibri"/>
              <a:ea typeface="Calibri"/>
              <a:cs typeface="Calibri"/>
              <a:sym typeface="Calibri"/>
            </a:endParaRPr>
          </a:p>
        </p:txBody>
      </p:sp>
      <p:sp>
        <p:nvSpPr>
          <p:cNvPr id="60" name="Google Shape;60;g3d9f11b2db1_0_3"/>
          <p:cNvSpPr/>
          <p:nvPr/>
        </p:nvSpPr>
        <p:spPr>
          <a:xfrm>
            <a:off x="571500" y="1448395"/>
            <a:ext cx="4457700" cy="207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192F"/>
              </a:buClr>
              <a:buSzPts val="1200"/>
              <a:buFont typeface="Inter ExtraBold"/>
              <a:buNone/>
            </a:pPr>
            <a:r>
              <a:rPr b="1" i="0" lang="en-US" sz="1200" u="none" cap="none" strike="noStrike">
                <a:solidFill>
                  <a:srgbClr val="0A192F"/>
                </a:solidFill>
                <a:latin typeface="Inter ExtraBold"/>
                <a:ea typeface="Inter ExtraBold"/>
                <a:cs typeface="Inter ExtraBold"/>
                <a:sym typeface="Inter ExtraBold"/>
              </a:rPr>
              <a:t>VISION DE L'OFFRE</a:t>
            </a:r>
            <a:endParaRPr b="0" i="0" sz="1200" u="none" cap="none" strike="noStrike">
              <a:solidFill>
                <a:schemeClr val="dk1"/>
              </a:solidFill>
              <a:latin typeface="Calibri"/>
              <a:ea typeface="Calibri"/>
              <a:cs typeface="Calibri"/>
              <a:sym typeface="Calibri"/>
            </a:endParaRPr>
          </a:p>
        </p:txBody>
      </p:sp>
      <p:sp>
        <p:nvSpPr>
          <p:cNvPr id="61" name="Google Shape;61;g3d9f11b2db1_0_3"/>
          <p:cNvSpPr/>
          <p:nvPr/>
        </p:nvSpPr>
        <p:spPr>
          <a:xfrm>
            <a:off x="571500" y="1798439"/>
            <a:ext cx="4457700" cy="164580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333F58"/>
              </a:buClr>
              <a:buSzPts val="1250"/>
              <a:buFont typeface="Inter Light"/>
              <a:buNone/>
            </a:pPr>
            <a:r>
              <a:rPr b="0" i="0" lang="en-US" sz="1250" u="none" cap="none" strike="noStrike">
                <a:solidFill>
                  <a:srgbClr val="333F58"/>
                </a:solidFill>
                <a:latin typeface="Inter Light"/>
                <a:ea typeface="Inter Light"/>
                <a:cs typeface="Inter Light"/>
                <a:sym typeface="Inter Light"/>
              </a:rPr>
              <a:t>Proposer un accompagnement personnalisé, opérationnel et pédagogique aux équipes de développement afin qu'elles puissent livrer des applications sécurisées, sans être bloquées dans leurs pipelines et en comprenant les enjeux de chaque vulnérabilité.</a:t>
            </a:r>
            <a:endParaRPr b="0" i="0" sz="1250" u="none" cap="none" strike="noStrike">
              <a:solidFill>
                <a:schemeClr val="dk1"/>
              </a:solidFill>
              <a:latin typeface="Calibri"/>
              <a:ea typeface="Calibri"/>
              <a:cs typeface="Calibri"/>
              <a:sym typeface="Calibri"/>
            </a:endParaRPr>
          </a:p>
        </p:txBody>
      </p:sp>
      <p:pic>
        <p:nvPicPr>
          <p:cNvPr descr="preencoded.png" id="62" name="Google Shape;62;g3d9f11b2db1_0_3"/>
          <p:cNvPicPr preferRelativeResize="0"/>
          <p:nvPr/>
        </p:nvPicPr>
        <p:blipFill rotWithShape="1">
          <a:blip r:embed="rId4">
            <a:alphaModFix/>
          </a:blip>
          <a:srcRect b="0" l="0" r="0" t="0"/>
          <a:stretch/>
        </p:blipFill>
        <p:spPr>
          <a:xfrm>
            <a:off x="5600700" y="1206401"/>
            <a:ext cx="107156" cy="171450"/>
          </a:xfrm>
          <a:prstGeom prst="rect">
            <a:avLst/>
          </a:prstGeom>
          <a:noFill/>
          <a:ln>
            <a:noFill/>
          </a:ln>
        </p:spPr>
      </p:pic>
      <p:sp>
        <p:nvSpPr>
          <p:cNvPr id="63" name="Google Shape;63;g3d9f11b2db1_0_3"/>
          <p:cNvSpPr/>
          <p:nvPr/>
        </p:nvSpPr>
        <p:spPr>
          <a:xfrm>
            <a:off x="5815013" y="1205508"/>
            <a:ext cx="2037900" cy="17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3F58"/>
              </a:buClr>
              <a:buSzPts val="1000"/>
              <a:buFont typeface="Inter ExtraBold"/>
              <a:buNone/>
            </a:pPr>
            <a:r>
              <a:rPr b="1" i="0" lang="en-US" sz="1000" u="none" cap="none" strike="noStrike">
                <a:solidFill>
                  <a:srgbClr val="333F58"/>
                </a:solidFill>
                <a:latin typeface="Inter ExtraBold"/>
                <a:ea typeface="Inter ExtraBold"/>
                <a:cs typeface="Inter ExtraBold"/>
                <a:sym typeface="Inter ExtraBold"/>
              </a:rPr>
              <a:t>Ce que nous ne sommes PAS</a:t>
            </a:r>
            <a:endParaRPr b="0" i="0" sz="1000" u="none" cap="none" strike="noStrike">
              <a:solidFill>
                <a:schemeClr val="dk1"/>
              </a:solidFill>
              <a:latin typeface="Calibri"/>
              <a:ea typeface="Calibri"/>
              <a:cs typeface="Calibri"/>
              <a:sym typeface="Calibri"/>
            </a:endParaRPr>
          </a:p>
        </p:txBody>
      </p:sp>
      <p:sp>
        <p:nvSpPr>
          <p:cNvPr id="64" name="Google Shape;64;g3d9f11b2db1_0_3"/>
          <p:cNvSpPr/>
          <p:nvPr/>
        </p:nvSpPr>
        <p:spPr>
          <a:xfrm>
            <a:off x="5600700" y="1485900"/>
            <a:ext cx="2971800" cy="428700"/>
          </a:xfrm>
          <a:prstGeom prst="rect">
            <a:avLst/>
          </a:prstGeom>
          <a:noFill/>
          <a:ln>
            <a:noFill/>
          </a:ln>
        </p:spPr>
        <p:txBody>
          <a:bodyPr anchorCtr="0" anchor="t" bIns="0" lIns="331700" spcFirstLastPara="1" rIns="0" wrap="square" tIns="0">
            <a:noAutofit/>
          </a:bodyPr>
          <a:lstStyle/>
          <a:p>
            <a:pPr indent="0" lvl="0" marL="0" marR="0" rtl="0" algn="l">
              <a:lnSpc>
                <a:spcPct val="120000"/>
              </a:lnSpc>
              <a:spcBef>
                <a:spcPts val="0"/>
              </a:spcBef>
              <a:spcAft>
                <a:spcPts val="0"/>
              </a:spcAft>
              <a:buClr>
                <a:srgbClr val="333F58"/>
              </a:buClr>
              <a:buSzPts val="1050"/>
              <a:buFont typeface="Inter Light"/>
              <a:buNone/>
            </a:pPr>
            <a:r>
              <a:rPr b="0" i="0" lang="en-US" sz="1050" u="none" cap="none" strike="noStrike">
                <a:solidFill>
                  <a:srgbClr val="333F58"/>
                </a:solidFill>
                <a:latin typeface="Inter Light"/>
                <a:ea typeface="Inter Light"/>
                <a:cs typeface="Inter Light"/>
                <a:sym typeface="Inter Light"/>
              </a:rPr>
              <a:t>Nous ne sommes pas une équipe de contrôle ou de sanction.</a:t>
            </a:r>
            <a:endParaRPr b="0" i="0" sz="1050" u="none" cap="none" strike="noStrike">
              <a:solidFill>
                <a:schemeClr val="dk1"/>
              </a:solidFill>
              <a:latin typeface="Calibri"/>
              <a:ea typeface="Calibri"/>
              <a:cs typeface="Calibri"/>
              <a:sym typeface="Calibri"/>
            </a:endParaRPr>
          </a:p>
        </p:txBody>
      </p:sp>
      <p:pic>
        <p:nvPicPr>
          <p:cNvPr descr="preencoded.png" id="65" name="Google Shape;65;g3d9f11b2db1_0_3"/>
          <p:cNvPicPr preferRelativeResize="0"/>
          <p:nvPr/>
        </p:nvPicPr>
        <p:blipFill rotWithShape="1">
          <a:blip r:embed="rId5">
            <a:alphaModFix/>
          </a:blip>
          <a:srcRect b="0" l="0" r="0" t="0"/>
          <a:stretch/>
        </p:blipFill>
        <p:spPr>
          <a:xfrm>
            <a:off x="5600700" y="2515493"/>
            <a:ext cx="171450" cy="171450"/>
          </a:xfrm>
          <a:prstGeom prst="rect">
            <a:avLst/>
          </a:prstGeom>
          <a:noFill/>
          <a:ln>
            <a:noFill/>
          </a:ln>
        </p:spPr>
      </p:pic>
      <p:sp>
        <p:nvSpPr>
          <p:cNvPr id="66" name="Google Shape;66;g3d9f11b2db1_0_3"/>
          <p:cNvSpPr/>
          <p:nvPr/>
        </p:nvSpPr>
        <p:spPr>
          <a:xfrm>
            <a:off x="5879306" y="2514600"/>
            <a:ext cx="1566300" cy="17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192F"/>
              </a:buClr>
              <a:buSzPts val="1000"/>
              <a:buFont typeface="Inter ExtraBold"/>
              <a:buNone/>
            </a:pPr>
            <a:r>
              <a:rPr b="1" i="0" lang="en-US" sz="1000" u="none" cap="none" strike="noStrike">
                <a:solidFill>
                  <a:srgbClr val="0A192F"/>
                </a:solidFill>
                <a:latin typeface="Inter ExtraBold"/>
                <a:ea typeface="Inter ExtraBold"/>
                <a:cs typeface="Inter ExtraBold"/>
                <a:sym typeface="Inter ExtraBold"/>
              </a:rPr>
              <a:t>Ce que nous SOMMES</a:t>
            </a:r>
            <a:endParaRPr b="0" i="0" sz="1000" u="none" cap="none" strike="noStrike">
              <a:solidFill>
                <a:schemeClr val="dk1"/>
              </a:solidFill>
              <a:latin typeface="Calibri"/>
              <a:ea typeface="Calibri"/>
              <a:cs typeface="Calibri"/>
              <a:sym typeface="Calibri"/>
            </a:endParaRPr>
          </a:p>
        </p:txBody>
      </p:sp>
      <p:sp>
        <p:nvSpPr>
          <p:cNvPr id="67" name="Google Shape;67;g3d9f11b2db1_0_3"/>
          <p:cNvSpPr/>
          <p:nvPr/>
        </p:nvSpPr>
        <p:spPr>
          <a:xfrm>
            <a:off x="5600700" y="2794992"/>
            <a:ext cx="2971800" cy="857400"/>
          </a:xfrm>
          <a:prstGeom prst="rect">
            <a:avLst/>
          </a:prstGeom>
          <a:noFill/>
          <a:ln>
            <a:noFill/>
          </a:ln>
        </p:spPr>
        <p:txBody>
          <a:bodyPr anchorCtr="0" anchor="t" bIns="0" lIns="331700" spcFirstLastPara="1" rIns="0" wrap="square" tIns="0">
            <a:noAutofit/>
          </a:bodyPr>
          <a:lstStyle/>
          <a:p>
            <a:pPr indent="0" lvl="0" marL="0" marR="0" rtl="0" algn="l">
              <a:lnSpc>
                <a:spcPct val="120000"/>
              </a:lnSpc>
              <a:spcBef>
                <a:spcPts val="0"/>
              </a:spcBef>
              <a:spcAft>
                <a:spcPts val="0"/>
              </a:spcAft>
              <a:buClr>
                <a:srgbClr val="333F58"/>
              </a:buClr>
              <a:buSzPts val="1050"/>
              <a:buFont typeface="Inter Light"/>
              <a:buNone/>
            </a:pPr>
            <a:r>
              <a:rPr b="0" i="0" lang="en-US" sz="1050" u="none" cap="none" strike="noStrike">
                <a:solidFill>
                  <a:srgbClr val="333F58"/>
                </a:solidFill>
                <a:latin typeface="Inter Light"/>
                <a:ea typeface="Inter Light"/>
                <a:cs typeface="Inter Light"/>
                <a:sym typeface="Inter Light"/>
              </a:rPr>
              <a:t>Un </a:t>
            </a:r>
            <a:r>
              <a:rPr b="1" i="0" lang="en-US" sz="1000" u="none" cap="none" strike="noStrike">
                <a:solidFill>
                  <a:srgbClr val="333F58"/>
                </a:solidFill>
                <a:latin typeface="Inter ExtraBold"/>
                <a:ea typeface="Inter ExtraBold"/>
                <a:cs typeface="Inter ExtraBold"/>
                <a:sym typeface="Inter ExtraBold"/>
              </a:rPr>
              <a:t>centre d'expertise cyber</a:t>
            </a:r>
            <a:r>
              <a:rPr b="0" i="0" lang="en-US" sz="1050" u="none" cap="none" strike="noStrike">
                <a:solidFill>
                  <a:srgbClr val="333F58"/>
                </a:solidFill>
                <a:latin typeface="Inter Light"/>
                <a:ea typeface="Inter Light"/>
                <a:cs typeface="Inter Light"/>
                <a:sym typeface="Inter Light"/>
              </a:rPr>
              <a:t> au service des développeurs, avec une posture de conseil, de formation et d'accompagnement technique.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pic>
        <p:nvPicPr>
          <p:cNvPr descr="preencoded.png" id="73" name="Google Shape;73;p4"/>
          <p:cNvPicPr preferRelativeResize="0"/>
          <p:nvPr/>
        </p:nvPicPr>
        <p:blipFill rotWithShape="1">
          <a:blip r:embed="rId3">
            <a:alphaModFix/>
          </a:blip>
          <a:srcRect b="0" l="0" r="0" t="0"/>
          <a:stretch/>
        </p:blipFill>
        <p:spPr>
          <a:xfrm>
            <a:off x="0" y="0"/>
            <a:ext cx="9144000" cy="5206008"/>
          </a:xfrm>
          <a:prstGeom prst="rect">
            <a:avLst/>
          </a:prstGeom>
          <a:noFill/>
          <a:ln>
            <a:noFill/>
          </a:ln>
        </p:spPr>
      </p:pic>
      <p:sp>
        <p:nvSpPr>
          <p:cNvPr id="74" name="Google Shape;74;p4"/>
          <p:cNvSpPr/>
          <p:nvPr/>
        </p:nvSpPr>
        <p:spPr>
          <a:xfrm>
            <a:off x="0" y="0"/>
            <a:ext cx="9144000" cy="1082278"/>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4"/>
          <p:cNvSpPr/>
          <p:nvPr/>
        </p:nvSpPr>
        <p:spPr>
          <a:xfrm>
            <a:off x="0" y="1053703"/>
            <a:ext cx="9144000" cy="28575"/>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
          <p:cNvSpPr/>
          <p:nvPr/>
        </p:nvSpPr>
        <p:spPr>
          <a:xfrm>
            <a:off x="571500" y="357188"/>
            <a:ext cx="8001000" cy="55364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A192F"/>
              </a:buClr>
              <a:buSzPts val="1600"/>
              <a:buFont typeface="Inter ExtraBold"/>
              <a:buNone/>
            </a:pPr>
            <a:r>
              <a:rPr b="1" i="0" lang="en-US" sz="1600" u="none" cap="none" strike="noStrike">
                <a:solidFill>
                  <a:srgbClr val="0A192F"/>
                </a:solidFill>
                <a:latin typeface="Inter ExtraBold"/>
                <a:ea typeface="Inter ExtraBold"/>
                <a:cs typeface="Inter ExtraBold"/>
                <a:sym typeface="Inter ExtraBold"/>
              </a:rPr>
              <a:t>L'écosystème outillé : 4 piliers technologiques au service de la sécurité</a:t>
            </a:r>
            <a:endParaRPr b="0" i="0" sz="1600" u="none" cap="none" strike="noStrike">
              <a:solidFill>
                <a:schemeClr val="dk1"/>
              </a:solidFill>
              <a:latin typeface="Calibri"/>
              <a:ea typeface="Calibri"/>
              <a:cs typeface="Calibri"/>
              <a:sym typeface="Calibri"/>
            </a:endParaRPr>
          </a:p>
        </p:txBody>
      </p:sp>
      <p:sp>
        <p:nvSpPr>
          <p:cNvPr id="77" name="Google Shape;77;p4"/>
          <p:cNvSpPr/>
          <p:nvPr/>
        </p:nvSpPr>
        <p:spPr>
          <a:xfrm>
            <a:off x="571500" y="1339453"/>
            <a:ext cx="2000250" cy="173236"/>
          </a:xfrm>
          <a:prstGeom prst="rect">
            <a:avLst/>
          </a:prstGeom>
          <a:noFill/>
          <a:ln>
            <a:noFill/>
          </a:ln>
        </p:spPr>
        <p:txBody>
          <a:bodyPr anchorCtr="0" anchor="t" bIns="0" lIns="0" spcFirstLastPara="1" rIns="170050" wrap="square" tIns="0">
            <a:spAutoFit/>
          </a:bodyPr>
          <a:lstStyle/>
          <a:p>
            <a:pPr indent="0" lvl="0" marL="0" marR="0" rtl="0" algn="l">
              <a:spcBef>
                <a:spcPts val="0"/>
              </a:spcBef>
              <a:spcAft>
                <a:spcPts val="0"/>
              </a:spcAft>
              <a:buClr>
                <a:srgbClr val="0A192F"/>
              </a:buClr>
              <a:buSzPts val="1000"/>
              <a:buFont typeface="Inter ExtraBold"/>
              <a:buNone/>
            </a:pPr>
            <a:r>
              <a:rPr b="1" i="0" lang="en-US" sz="1000" u="none" cap="none" strike="noStrike">
                <a:solidFill>
                  <a:srgbClr val="0A192F"/>
                </a:solidFill>
                <a:latin typeface="Inter ExtraBold"/>
                <a:ea typeface="Inter ExtraBold"/>
                <a:cs typeface="Inter ExtraBold"/>
                <a:sym typeface="Inter ExtraBold"/>
              </a:rPr>
              <a:t>OUTIL / MÉTHODE</a:t>
            </a:r>
            <a:endParaRPr b="0" i="0" sz="1000" u="none" cap="none" strike="noStrike">
              <a:solidFill>
                <a:schemeClr val="dk1"/>
              </a:solidFill>
              <a:latin typeface="Calibri"/>
              <a:ea typeface="Calibri"/>
              <a:cs typeface="Calibri"/>
              <a:sym typeface="Calibri"/>
            </a:endParaRPr>
          </a:p>
        </p:txBody>
      </p:sp>
      <p:sp>
        <p:nvSpPr>
          <p:cNvPr id="78" name="Google Shape;78;p4"/>
          <p:cNvSpPr/>
          <p:nvPr/>
        </p:nvSpPr>
        <p:spPr>
          <a:xfrm>
            <a:off x="2571750" y="1339453"/>
            <a:ext cx="2400300" cy="173236"/>
          </a:xfrm>
          <a:prstGeom prst="rect">
            <a:avLst/>
          </a:prstGeom>
          <a:noFill/>
          <a:ln>
            <a:noFill/>
          </a:ln>
        </p:spPr>
        <p:txBody>
          <a:bodyPr anchorCtr="0" anchor="t" bIns="0" lIns="0" spcFirstLastPara="1" rIns="170050" wrap="square" tIns="0">
            <a:spAutoFit/>
          </a:bodyPr>
          <a:lstStyle/>
          <a:p>
            <a:pPr indent="0" lvl="0" marL="0" marR="0" rtl="0" algn="l">
              <a:spcBef>
                <a:spcPts val="0"/>
              </a:spcBef>
              <a:spcAft>
                <a:spcPts val="0"/>
              </a:spcAft>
              <a:buClr>
                <a:srgbClr val="0A192F"/>
              </a:buClr>
              <a:buSzPts val="1000"/>
              <a:buFont typeface="Inter ExtraBold"/>
              <a:buNone/>
            </a:pPr>
            <a:r>
              <a:rPr b="1" i="0" lang="en-US" sz="1000" u="none" cap="none" strike="noStrike">
                <a:solidFill>
                  <a:srgbClr val="0A192F"/>
                </a:solidFill>
                <a:latin typeface="Inter ExtraBold"/>
                <a:ea typeface="Inter ExtraBold"/>
                <a:cs typeface="Inter ExtraBold"/>
                <a:sym typeface="Inter ExtraBold"/>
              </a:rPr>
              <a:t>PÉRIMÈTRE</a:t>
            </a:r>
            <a:endParaRPr b="0" i="0" sz="1000" u="none" cap="none" strike="noStrike">
              <a:solidFill>
                <a:schemeClr val="dk1"/>
              </a:solidFill>
              <a:latin typeface="Calibri"/>
              <a:ea typeface="Calibri"/>
              <a:cs typeface="Calibri"/>
              <a:sym typeface="Calibri"/>
            </a:endParaRPr>
          </a:p>
        </p:txBody>
      </p:sp>
      <p:sp>
        <p:nvSpPr>
          <p:cNvPr id="79" name="Google Shape;79;p4"/>
          <p:cNvSpPr/>
          <p:nvPr/>
        </p:nvSpPr>
        <p:spPr>
          <a:xfrm>
            <a:off x="4972050" y="1339453"/>
            <a:ext cx="3600450" cy="17323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A192F"/>
              </a:buClr>
              <a:buSzPts val="1000"/>
              <a:buFont typeface="Inter ExtraBold"/>
              <a:buNone/>
            </a:pPr>
            <a:r>
              <a:rPr b="1" i="0" lang="en-US" sz="1000" u="none" cap="none" strike="noStrike">
                <a:solidFill>
                  <a:srgbClr val="0A192F"/>
                </a:solidFill>
                <a:latin typeface="Inter ExtraBold"/>
                <a:ea typeface="Inter ExtraBold"/>
                <a:cs typeface="Inter ExtraBold"/>
                <a:sym typeface="Inter ExtraBold"/>
              </a:rPr>
              <a:t>RÔLE DANS L'OFFRE</a:t>
            </a:r>
            <a:endParaRPr b="0" i="0" sz="1000" u="none" cap="none" strike="noStrike">
              <a:solidFill>
                <a:schemeClr val="dk1"/>
              </a:solidFill>
              <a:latin typeface="Calibri"/>
              <a:ea typeface="Calibri"/>
              <a:cs typeface="Calibri"/>
              <a:sym typeface="Calibri"/>
            </a:endParaRPr>
          </a:p>
        </p:txBody>
      </p:sp>
      <p:sp>
        <p:nvSpPr>
          <p:cNvPr id="80" name="Google Shape;80;p4"/>
          <p:cNvSpPr/>
          <p:nvPr/>
        </p:nvSpPr>
        <p:spPr>
          <a:xfrm>
            <a:off x="571500" y="1934170"/>
            <a:ext cx="2000250" cy="173236"/>
          </a:xfrm>
          <a:prstGeom prst="rect">
            <a:avLst/>
          </a:prstGeom>
          <a:noFill/>
          <a:ln>
            <a:noFill/>
          </a:ln>
        </p:spPr>
        <p:txBody>
          <a:bodyPr anchorCtr="0" anchor="t" bIns="0" lIns="0" spcFirstLastPara="1" rIns="170050" wrap="square" tIns="0">
            <a:spAutoFit/>
          </a:bodyPr>
          <a:lstStyle/>
          <a:p>
            <a:pPr indent="0" lvl="0" marL="0" marR="0" rtl="0" algn="l">
              <a:spcBef>
                <a:spcPts val="0"/>
              </a:spcBef>
              <a:spcAft>
                <a:spcPts val="0"/>
              </a:spcAft>
              <a:buClr>
                <a:srgbClr val="00B4D8"/>
              </a:buClr>
              <a:buSzPts val="1000"/>
              <a:buFont typeface="Inter ExtraBold"/>
              <a:buNone/>
            </a:pPr>
            <a:r>
              <a:rPr b="1" i="0" lang="en-US" sz="1000" u="none" cap="none" strike="noStrike">
                <a:solidFill>
                  <a:srgbClr val="00B4D8"/>
                </a:solidFill>
                <a:latin typeface="Inter ExtraBold"/>
                <a:ea typeface="Inter ExtraBold"/>
                <a:cs typeface="Inter ExtraBold"/>
                <a:sym typeface="Inter ExtraBold"/>
              </a:rPr>
              <a:t>JFrog Artifactory + Xray</a:t>
            </a:r>
            <a:endParaRPr b="0" i="0" sz="1000" u="none" cap="none" strike="noStrike">
              <a:solidFill>
                <a:schemeClr val="dk1"/>
              </a:solidFill>
              <a:latin typeface="Calibri"/>
              <a:ea typeface="Calibri"/>
              <a:cs typeface="Calibri"/>
              <a:sym typeface="Calibri"/>
            </a:endParaRPr>
          </a:p>
        </p:txBody>
      </p:sp>
      <p:sp>
        <p:nvSpPr>
          <p:cNvPr id="81" name="Google Shape;81;p4"/>
          <p:cNvSpPr/>
          <p:nvPr/>
        </p:nvSpPr>
        <p:spPr>
          <a:xfrm>
            <a:off x="2571750" y="1934170"/>
            <a:ext cx="2400300" cy="155377"/>
          </a:xfrm>
          <a:prstGeom prst="rect">
            <a:avLst/>
          </a:prstGeom>
          <a:noFill/>
          <a:ln>
            <a:noFill/>
          </a:ln>
        </p:spPr>
        <p:txBody>
          <a:bodyPr anchorCtr="0" anchor="t" bIns="0" lIns="0" spcFirstLastPara="1" rIns="170050" wrap="square" tIns="0">
            <a:spAutoFit/>
          </a:bodyPr>
          <a:lstStyle/>
          <a:p>
            <a:pPr indent="0" lvl="0" marL="0" marR="0" rtl="0" algn="l">
              <a:spcBef>
                <a:spcPts val="0"/>
              </a:spcBef>
              <a:spcAft>
                <a:spcPts val="0"/>
              </a:spcAft>
              <a:buClr>
                <a:srgbClr val="333F58"/>
              </a:buClr>
              <a:buSzPts val="900"/>
              <a:buFont typeface="Inter ExtraBold"/>
              <a:buNone/>
            </a:pPr>
            <a:r>
              <a:rPr b="1" i="0" lang="en-US" sz="900" u="none" cap="none" strike="noStrike">
                <a:solidFill>
                  <a:srgbClr val="333F58"/>
                </a:solidFill>
                <a:latin typeface="Inter ExtraBold"/>
                <a:ea typeface="Inter ExtraBold"/>
                <a:cs typeface="Inter ExtraBold"/>
                <a:sym typeface="Inter ExtraBold"/>
              </a:rPr>
              <a:t>SCA — Analyse des dépendances</a:t>
            </a:r>
            <a:endParaRPr b="0" i="0" sz="900" u="none" cap="none" strike="noStrike">
              <a:solidFill>
                <a:schemeClr val="dk1"/>
              </a:solidFill>
              <a:latin typeface="Calibri"/>
              <a:ea typeface="Calibri"/>
              <a:cs typeface="Calibri"/>
              <a:sym typeface="Calibri"/>
            </a:endParaRPr>
          </a:p>
        </p:txBody>
      </p:sp>
      <p:sp>
        <p:nvSpPr>
          <p:cNvPr id="82" name="Google Shape;82;p4"/>
          <p:cNvSpPr/>
          <p:nvPr/>
        </p:nvSpPr>
        <p:spPr>
          <a:xfrm>
            <a:off x="4972050" y="1934170"/>
            <a:ext cx="3600450" cy="385763"/>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333F58"/>
              </a:buClr>
              <a:buSzPts val="950"/>
              <a:buFont typeface="Inter Light"/>
              <a:buNone/>
            </a:pPr>
            <a:r>
              <a:rPr b="0" i="0" lang="en-US" sz="950" u="none" cap="none" strike="noStrike">
                <a:solidFill>
                  <a:srgbClr val="333F58"/>
                </a:solidFill>
                <a:latin typeface="Inter Light"/>
                <a:ea typeface="Inter Light"/>
                <a:cs typeface="Inter Light"/>
                <a:sym typeface="Inter Light"/>
              </a:rPr>
              <a:t>Détection des CVE dans les librairies open source et les images Docker</a:t>
            </a:r>
            <a:endParaRPr b="0" i="0" sz="950" u="none" cap="none" strike="noStrike">
              <a:solidFill>
                <a:schemeClr val="dk1"/>
              </a:solidFill>
              <a:latin typeface="Calibri"/>
              <a:ea typeface="Calibri"/>
              <a:cs typeface="Calibri"/>
              <a:sym typeface="Calibri"/>
            </a:endParaRPr>
          </a:p>
        </p:txBody>
      </p:sp>
      <p:sp>
        <p:nvSpPr>
          <p:cNvPr id="83" name="Google Shape;83;p4"/>
          <p:cNvSpPr/>
          <p:nvPr/>
        </p:nvSpPr>
        <p:spPr>
          <a:xfrm>
            <a:off x="571500" y="2612827"/>
            <a:ext cx="2000250" cy="173236"/>
          </a:xfrm>
          <a:prstGeom prst="rect">
            <a:avLst/>
          </a:prstGeom>
          <a:noFill/>
          <a:ln>
            <a:noFill/>
          </a:ln>
        </p:spPr>
        <p:txBody>
          <a:bodyPr anchorCtr="0" anchor="t" bIns="0" lIns="0" spcFirstLastPara="1" rIns="170050" wrap="square" tIns="0">
            <a:spAutoFit/>
          </a:bodyPr>
          <a:lstStyle/>
          <a:p>
            <a:pPr indent="0" lvl="0" marL="0" marR="0" rtl="0" algn="l">
              <a:spcBef>
                <a:spcPts val="0"/>
              </a:spcBef>
              <a:spcAft>
                <a:spcPts val="0"/>
              </a:spcAft>
              <a:buClr>
                <a:srgbClr val="00B4D8"/>
              </a:buClr>
              <a:buSzPts val="1000"/>
              <a:buFont typeface="Inter ExtraBold"/>
              <a:buNone/>
            </a:pPr>
            <a:r>
              <a:rPr b="1" i="0" lang="en-US" sz="1000" u="none" cap="none" strike="noStrike">
                <a:solidFill>
                  <a:srgbClr val="00B4D8"/>
                </a:solidFill>
                <a:latin typeface="Inter ExtraBold"/>
                <a:ea typeface="Inter ExtraBold"/>
                <a:cs typeface="Inter ExtraBold"/>
                <a:sym typeface="Inter ExtraBold"/>
              </a:rPr>
              <a:t>SonarQube</a:t>
            </a:r>
            <a:endParaRPr b="0" i="0" sz="1000" u="none" cap="none" strike="noStrike">
              <a:solidFill>
                <a:schemeClr val="dk1"/>
              </a:solidFill>
              <a:latin typeface="Calibri"/>
              <a:ea typeface="Calibri"/>
              <a:cs typeface="Calibri"/>
              <a:sym typeface="Calibri"/>
            </a:endParaRPr>
          </a:p>
        </p:txBody>
      </p:sp>
      <p:sp>
        <p:nvSpPr>
          <p:cNvPr id="84" name="Google Shape;84;p4"/>
          <p:cNvSpPr/>
          <p:nvPr/>
        </p:nvSpPr>
        <p:spPr>
          <a:xfrm>
            <a:off x="2571750" y="2612827"/>
            <a:ext cx="2400300" cy="155377"/>
          </a:xfrm>
          <a:prstGeom prst="rect">
            <a:avLst/>
          </a:prstGeom>
          <a:noFill/>
          <a:ln>
            <a:noFill/>
          </a:ln>
        </p:spPr>
        <p:txBody>
          <a:bodyPr anchorCtr="0" anchor="t" bIns="0" lIns="0" spcFirstLastPara="1" rIns="170050" wrap="square" tIns="0">
            <a:spAutoFit/>
          </a:bodyPr>
          <a:lstStyle/>
          <a:p>
            <a:pPr indent="0" lvl="0" marL="0" marR="0" rtl="0" algn="l">
              <a:spcBef>
                <a:spcPts val="0"/>
              </a:spcBef>
              <a:spcAft>
                <a:spcPts val="0"/>
              </a:spcAft>
              <a:buClr>
                <a:srgbClr val="333F58"/>
              </a:buClr>
              <a:buSzPts val="900"/>
              <a:buFont typeface="Inter ExtraBold"/>
              <a:buNone/>
            </a:pPr>
            <a:r>
              <a:rPr b="1" i="0" lang="en-US" sz="900" u="none" cap="none" strike="noStrike">
                <a:solidFill>
                  <a:srgbClr val="333F58"/>
                </a:solidFill>
                <a:latin typeface="Inter ExtraBold"/>
                <a:ea typeface="Inter ExtraBold"/>
                <a:cs typeface="Inter ExtraBold"/>
                <a:sym typeface="Inter ExtraBold"/>
              </a:rPr>
              <a:t>SAST — Analyse statique du code</a:t>
            </a:r>
            <a:endParaRPr b="0" i="0" sz="900" u="none" cap="none" strike="noStrike">
              <a:solidFill>
                <a:schemeClr val="dk1"/>
              </a:solidFill>
              <a:latin typeface="Calibri"/>
              <a:ea typeface="Calibri"/>
              <a:cs typeface="Calibri"/>
              <a:sym typeface="Calibri"/>
            </a:endParaRPr>
          </a:p>
        </p:txBody>
      </p:sp>
      <p:sp>
        <p:nvSpPr>
          <p:cNvPr id="85" name="Google Shape;85;p4"/>
          <p:cNvSpPr/>
          <p:nvPr/>
        </p:nvSpPr>
        <p:spPr>
          <a:xfrm>
            <a:off x="4972050" y="2612827"/>
            <a:ext cx="3600450" cy="385763"/>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333F58"/>
              </a:buClr>
              <a:buSzPts val="950"/>
              <a:buFont typeface="Inter Light"/>
              <a:buNone/>
            </a:pPr>
            <a:r>
              <a:rPr b="0" i="0" lang="en-US" sz="950" u="none" cap="none" strike="noStrike">
                <a:solidFill>
                  <a:srgbClr val="333F58"/>
                </a:solidFill>
                <a:latin typeface="Inter Light"/>
                <a:ea typeface="Inter Light"/>
                <a:cs typeface="Inter Light"/>
                <a:sym typeface="Inter Light"/>
              </a:rPr>
              <a:t>Identification des failles de sécurité dans le code source (injections, mauvaises pratiques)</a:t>
            </a:r>
            <a:endParaRPr b="0" i="0" sz="950" u="none" cap="none" strike="noStrike">
              <a:solidFill>
                <a:schemeClr val="dk1"/>
              </a:solidFill>
              <a:latin typeface="Calibri"/>
              <a:ea typeface="Calibri"/>
              <a:cs typeface="Calibri"/>
              <a:sym typeface="Calibri"/>
            </a:endParaRPr>
          </a:p>
        </p:txBody>
      </p:sp>
      <p:sp>
        <p:nvSpPr>
          <p:cNvPr id="86" name="Google Shape;86;p4"/>
          <p:cNvSpPr/>
          <p:nvPr/>
        </p:nvSpPr>
        <p:spPr>
          <a:xfrm>
            <a:off x="571500" y="3291483"/>
            <a:ext cx="2000250" cy="173236"/>
          </a:xfrm>
          <a:prstGeom prst="rect">
            <a:avLst/>
          </a:prstGeom>
          <a:noFill/>
          <a:ln>
            <a:noFill/>
          </a:ln>
        </p:spPr>
        <p:txBody>
          <a:bodyPr anchorCtr="0" anchor="t" bIns="0" lIns="0" spcFirstLastPara="1" rIns="170050" wrap="square" tIns="0">
            <a:spAutoFit/>
          </a:bodyPr>
          <a:lstStyle/>
          <a:p>
            <a:pPr indent="0" lvl="0" marL="0" marR="0" rtl="0" algn="l">
              <a:spcBef>
                <a:spcPts val="0"/>
              </a:spcBef>
              <a:spcAft>
                <a:spcPts val="0"/>
              </a:spcAft>
              <a:buClr>
                <a:srgbClr val="00B4D8"/>
              </a:buClr>
              <a:buSzPts val="1000"/>
              <a:buFont typeface="Inter ExtraBold"/>
              <a:buNone/>
            </a:pPr>
            <a:r>
              <a:rPr b="1" i="0" lang="en-US" sz="1000" u="none" cap="none" strike="noStrike">
                <a:solidFill>
                  <a:srgbClr val="00B4D8"/>
                </a:solidFill>
                <a:latin typeface="Inter ExtraBold"/>
                <a:ea typeface="Inter ExtraBold"/>
                <a:cs typeface="Inter ExtraBold"/>
                <a:sym typeface="Inter ExtraBold"/>
              </a:rPr>
              <a:t>Pentest (Interne/Externe)</a:t>
            </a:r>
            <a:endParaRPr b="0" i="0" sz="1000" u="none" cap="none" strike="noStrike">
              <a:solidFill>
                <a:schemeClr val="dk1"/>
              </a:solidFill>
              <a:latin typeface="Calibri"/>
              <a:ea typeface="Calibri"/>
              <a:cs typeface="Calibri"/>
              <a:sym typeface="Calibri"/>
            </a:endParaRPr>
          </a:p>
        </p:txBody>
      </p:sp>
      <p:sp>
        <p:nvSpPr>
          <p:cNvPr id="87" name="Google Shape;87;p4"/>
          <p:cNvSpPr/>
          <p:nvPr/>
        </p:nvSpPr>
        <p:spPr>
          <a:xfrm>
            <a:off x="2571750" y="3291483"/>
            <a:ext cx="2400300" cy="155377"/>
          </a:xfrm>
          <a:prstGeom prst="rect">
            <a:avLst/>
          </a:prstGeom>
          <a:noFill/>
          <a:ln>
            <a:noFill/>
          </a:ln>
        </p:spPr>
        <p:txBody>
          <a:bodyPr anchorCtr="0" anchor="t" bIns="0" lIns="0" spcFirstLastPara="1" rIns="170050" wrap="square" tIns="0">
            <a:spAutoFit/>
          </a:bodyPr>
          <a:lstStyle/>
          <a:p>
            <a:pPr indent="0" lvl="0" marL="0" marR="0" rtl="0" algn="l">
              <a:spcBef>
                <a:spcPts val="0"/>
              </a:spcBef>
              <a:spcAft>
                <a:spcPts val="0"/>
              </a:spcAft>
              <a:buClr>
                <a:srgbClr val="333F58"/>
              </a:buClr>
              <a:buSzPts val="900"/>
              <a:buFont typeface="Inter ExtraBold"/>
              <a:buNone/>
            </a:pPr>
            <a:r>
              <a:rPr b="1" i="0" lang="en-US" sz="900" u="none" cap="none" strike="noStrike">
                <a:solidFill>
                  <a:srgbClr val="333F58"/>
                </a:solidFill>
                <a:latin typeface="Inter ExtraBold"/>
                <a:ea typeface="Inter ExtraBold"/>
                <a:cs typeface="Inter ExtraBold"/>
                <a:sym typeface="Inter ExtraBold"/>
              </a:rPr>
              <a:t>Test d'intrusion applicatif</a:t>
            </a:r>
            <a:endParaRPr b="0" i="0" sz="900" u="none" cap="none" strike="noStrike">
              <a:solidFill>
                <a:schemeClr val="dk1"/>
              </a:solidFill>
              <a:latin typeface="Calibri"/>
              <a:ea typeface="Calibri"/>
              <a:cs typeface="Calibri"/>
              <a:sym typeface="Calibri"/>
            </a:endParaRPr>
          </a:p>
        </p:txBody>
      </p:sp>
      <p:sp>
        <p:nvSpPr>
          <p:cNvPr id="88" name="Google Shape;88;p4"/>
          <p:cNvSpPr/>
          <p:nvPr/>
        </p:nvSpPr>
        <p:spPr>
          <a:xfrm>
            <a:off x="4972050" y="3291483"/>
            <a:ext cx="3600450" cy="385763"/>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333F58"/>
              </a:buClr>
              <a:buSzPts val="950"/>
              <a:buFont typeface="Inter Light"/>
              <a:buNone/>
            </a:pPr>
            <a:r>
              <a:rPr b="0" i="0" lang="en-US" sz="950" u="none" cap="none" strike="noStrike">
                <a:solidFill>
                  <a:srgbClr val="333F58"/>
                </a:solidFill>
                <a:latin typeface="Inter Light"/>
                <a:ea typeface="Inter Light"/>
                <a:cs typeface="Inter Light"/>
                <a:sym typeface="Inter Light"/>
              </a:rPr>
              <a:t>Validation de la sécurité par l'équipe Sécurité Offensive ou des cabinets externes</a:t>
            </a:r>
            <a:endParaRPr b="0" i="0" sz="950" u="none" cap="none" strike="noStrike">
              <a:solidFill>
                <a:schemeClr val="dk1"/>
              </a:solidFill>
              <a:latin typeface="Calibri"/>
              <a:ea typeface="Calibri"/>
              <a:cs typeface="Calibri"/>
              <a:sym typeface="Calibri"/>
            </a:endParaRPr>
          </a:p>
        </p:txBody>
      </p:sp>
      <p:sp>
        <p:nvSpPr>
          <p:cNvPr id="89" name="Google Shape;89;p4"/>
          <p:cNvSpPr/>
          <p:nvPr/>
        </p:nvSpPr>
        <p:spPr>
          <a:xfrm>
            <a:off x="571500" y="3970139"/>
            <a:ext cx="2000250" cy="173236"/>
          </a:xfrm>
          <a:prstGeom prst="rect">
            <a:avLst/>
          </a:prstGeom>
          <a:noFill/>
          <a:ln>
            <a:noFill/>
          </a:ln>
        </p:spPr>
        <p:txBody>
          <a:bodyPr anchorCtr="0" anchor="t" bIns="0" lIns="0" spcFirstLastPara="1" rIns="170050" wrap="square" tIns="0">
            <a:spAutoFit/>
          </a:bodyPr>
          <a:lstStyle/>
          <a:p>
            <a:pPr indent="0" lvl="0" marL="0" marR="0" rtl="0" algn="l">
              <a:spcBef>
                <a:spcPts val="0"/>
              </a:spcBef>
              <a:spcAft>
                <a:spcPts val="0"/>
              </a:spcAft>
              <a:buClr>
                <a:srgbClr val="00B4D8"/>
              </a:buClr>
              <a:buSzPts val="1000"/>
              <a:buFont typeface="Inter ExtraBold"/>
              <a:buNone/>
            </a:pPr>
            <a:r>
              <a:rPr b="1" i="0" lang="en-US" sz="1000" u="none" cap="none" strike="noStrike">
                <a:solidFill>
                  <a:srgbClr val="00B4D8"/>
                </a:solidFill>
                <a:latin typeface="Inter ExtraBold"/>
                <a:ea typeface="Inter ExtraBold"/>
                <a:cs typeface="Inter ExtraBold"/>
                <a:sym typeface="Inter ExtraBold"/>
              </a:rPr>
              <a:t>Audit Manuel</a:t>
            </a:r>
            <a:endParaRPr b="0" i="0" sz="1000" u="none" cap="none" strike="noStrike">
              <a:solidFill>
                <a:schemeClr val="dk1"/>
              </a:solidFill>
              <a:latin typeface="Calibri"/>
              <a:ea typeface="Calibri"/>
              <a:cs typeface="Calibri"/>
              <a:sym typeface="Calibri"/>
            </a:endParaRPr>
          </a:p>
        </p:txBody>
      </p:sp>
      <p:sp>
        <p:nvSpPr>
          <p:cNvPr id="90" name="Google Shape;90;p4"/>
          <p:cNvSpPr/>
          <p:nvPr/>
        </p:nvSpPr>
        <p:spPr>
          <a:xfrm>
            <a:off x="2571750" y="3970139"/>
            <a:ext cx="2400300" cy="155377"/>
          </a:xfrm>
          <a:prstGeom prst="rect">
            <a:avLst/>
          </a:prstGeom>
          <a:noFill/>
          <a:ln>
            <a:noFill/>
          </a:ln>
        </p:spPr>
        <p:txBody>
          <a:bodyPr anchorCtr="0" anchor="t" bIns="0" lIns="0" spcFirstLastPara="1" rIns="170050" wrap="square" tIns="0">
            <a:spAutoFit/>
          </a:bodyPr>
          <a:lstStyle/>
          <a:p>
            <a:pPr indent="0" lvl="0" marL="0" marR="0" rtl="0" algn="l">
              <a:spcBef>
                <a:spcPts val="0"/>
              </a:spcBef>
              <a:spcAft>
                <a:spcPts val="0"/>
              </a:spcAft>
              <a:buClr>
                <a:srgbClr val="333F58"/>
              </a:buClr>
              <a:buSzPts val="900"/>
              <a:buFont typeface="Inter ExtraBold"/>
              <a:buNone/>
            </a:pPr>
            <a:r>
              <a:rPr b="1" i="0" lang="en-US" sz="900" u="none" cap="none" strike="noStrike">
                <a:solidFill>
                  <a:srgbClr val="333F58"/>
                </a:solidFill>
                <a:latin typeface="Inter ExtraBold"/>
                <a:ea typeface="Inter ExtraBold"/>
                <a:cs typeface="Inter ExtraBold"/>
                <a:sym typeface="Inter ExtraBold"/>
              </a:rPr>
              <a:t>Revue d'architecture &amp; Code</a:t>
            </a:r>
            <a:endParaRPr b="0" i="0" sz="900" u="none" cap="none" strike="noStrike">
              <a:solidFill>
                <a:schemeClr val="dk1"/>
              </a:solidFill>
              <a:latin typeface="Calibri"/>
              <a:ea typeface="Calibri"/>
              <a:cs typeface="Calibri"/>
              <a:sym typeface="Calibri"/>
            </a:endParaRPr>
          </a:p>
        </p:txBody>
      </p:sp>
      <p:sp>
        <p:nvSpPr>
          <p:cNvPr id="91" name="Google Shape;91;p4"/>
          <p:cNvSpPr/>
          <p:nvPr/>
        </p:nvSpPr>
        <p:spPr>
          <a:xfrm>
            <a:off x="4972050" y="3970139"/>
            <a:ext cx="3600450" cy="385763"/>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333F58"/>
              </a:buClr>
              <a:buSzPts val="950"/>
              <a:buFont typeface="Inter Light"/>
              <a:buNone/>
            </a:pPr>
            <a:r>
              <a:rPr b="0" i="0" lang="en-US" sz="950" u="none" cap="none" strike="noStrike">
                <a:solidFill>
                  <a:srgbClr val="333F58"/>
                </a:solidFill>
                <a:latin typeface="Inter Light"/>
                <a:ea typeface="Inter Light"/>
                <a:cs typeface="Inter Light"/>
                <a:sym typeface="Inter Light"/>
              </a:rPr>
              <a:t>Accompagnement sur-mesure basé sur des checklists de sécurité spécifiques</a:t>
            </a:r>
            <a:endParaRPr b="0" i="0" sz="950" u="none" cap="none" strike="noStrike">
              <a:solidFill>
                <a:schemeClr val="dk1"/>
              </a:solidFill>
              <a:latin typeface="Calibri"/>
              <a:ea typeface="Calibri"/>
              <a:cs typeface="Calibri"/>
              <a:sym typeface="Calibri"/>
            </a:endParaRPr>
          </a:p>
        </p:txBody>
      </p:sp>
      <p:sp>
        <p:nvSpPr>
          <p:cNvPr id="92" name="Google Shape;92;p4"/>
          <p:cNvSpPr/>
          <p:nvPr/>
        </p:nvSpPr>
        <p:spPr>
          <a:xfrm>
            <a:off x="571500" y="4677370"/>
            <a:ext cx="8001000" cy="214313"/>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A192F"/>
              </a:buClr>
              <a:buSzPts val="1000"/>
              <a:buFont typeface="Inter ExtraBold"/>
              <a:buNone/>
            </a:pPr>
            <a:r>
              <a:rPr b="1" i="0" lang="en-US" sz="1000" u="none" cap="none" strike="noStrike">
                <a:solidFill>
                  <a:srgbClr val="0A192F"/>
                </a:solidFill>
                <a:latin typeface="Inter ExtraBold"/>
                <a:ea typeface="Inter ExtraBold"/>
                <a:cs typeface="Inter ExtraBold"/>
                <a:sym typeface="Inter ExtraBold"/>
              </a:rPr>
              <a:t>Ces piliers couvrent l'ensemble du cycle de vie applicatif : </a:t>
            </a:r>
            <a:r>
              <a:rPr b="1" i="0" lang="en-US" sz="1000" u="none" cap="none" strike="noStrike">
                <a:solidFill>
                  <a:srgbClr val="F4A261"/>
                </a:solidFill>
                <a:latin typeface="Inter ExtraBold"/>
                <a:ea typeface="Inter ExtraBold"/>
                <a:cs typeface="Inter ExtraBold"/>
                <a:sym typeface="Inter ExtraBold"/>
              </a:rPr>
              <a:t>du code source jusqu'au déploiement en production.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descr="preencoded.png" id="98" name="Google Shape;98;p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99" name="Google Shape;99;p5"/>
          <p:cNvSpPr/>
          <p:nvPr/>
        </p:nvSpPr>
        <p:spPr>
          <a:xfrm>
            <a:off x="0" y="0"/>
            <a:ext cx="9144000" cy="805458"/>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5"/>
          <p:cNvSpPr/>
          <p:nvPr/>
        </p:nvSpPr>
        <p:spPr>
          <a:xfrm>
            <a:off x="0" y="776883"/>
            <a:ext cx="9144000" cy="28575"/>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5"/>
          <p:cNvSpPr/>
          <p:nvPr/>
        </p:nvSpPr>
        <p:spPr>
          <a:xfrm>
            <a:off x="571500" y="357188"/>
            <a:ext cx="8001000" cy="2768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A192F"/>
              </a:buClr>
              <a:buSzPts val="1600"/>
              <a:buFont typeface="Inter ExtraBold"/>
              <a:buNone/>
            </a:pPr>
            <a:r>
              <a:rPr b="1" i="0" lang="en-US" sz="1600" u="none" cap="none" strike="noStrike">
                <a:solidFill>
                  <a:srgbClr val="0A192F"/>
                </a:solidFill>
                <a:latin typeface="Inter ExtraBold"/>
                <a:ea typeface="Inter ExtraBold"/>
                <a:cs typeface="Inter ExtraBold"/>
                <a:sym typeface="Inter ExtraBold"/>
              </a:rPr>
              <a:t>Le levier d'adoption : La Security Gate comme déclencheur</a:t>
            </a:r>
            <a:endParaRPr b="0" i="0" sz="1600" u="none" cap="none" strike="noStrike">
              <a:solidFill>
                <a:schemeClr val="dk1"/>
              </a:solidFill>
              <a:latin typeface="Calibri"/>
              <a:ea typeface="Calibri"/>
              <a:cs typeface="Calibri"/>
              <a:sym typeface="Calibri"/>
            </a:endParaRPr>
          </a:p>
        </p:txBody>
      </p:sp>
      <p:sp>
        <p:nvSpPr>
          <p:cNvPr id="102" name="Google Shape;102;p5"/>
          <p:cNvSpPr/>
          <p:nvPr/>
        </p:nvSpPr>
        <p:spPr>
          <a:xfrm>
            <a:off x="571500" y="1062633"/>
            <a:ext cx="3786188" cy="17323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A192F"/>
              </a:buClr>
              <a:buSzPts val="1000"/>
              <a:buFont typeface="Inter ExtraBold"/>
              <a:buNone/>
            </a:pPr>
            <a:r>
              <a:rPr b="1" i="0" lang="en-US" sz="1000" u="none" cap="none" strike="noStrike">
                <a:solidFill>
                  <a:srgbClr val="0A192F"/>
                </a:solidFill>
                <a:latin typeface="Inter ExtraBold"/>
                <a:ea typeface="Inter ExtraBold"/>
                <a:cs typeface="Inter ExtraBold"/>
                <a:sym typeface="Inter ExtraBold"/>
              </a:rPr>
              <a:t>LE MÉCANISME DE SOUSCRIPTION</a:t>
            </a:r>
            <a:endParaRPr b="0" i="0" sz="1000" u="none" cap="none" strike="noStrike">
              <a:solidFill>
                <a:schemeClr val="dk1"/>
              </a:solidFill>
              <a:latin typeface="Calibri"/>
              <a:ea typeface="Calibri"/>
              <a:cs typeface="Calibri"/>
              <a:sym typeface="Calibri"/>
            </a:endParaRPr>
          </a:p>
        </p:txBody>
      </p:sp>
      <p:sp>
        <p:nvSpPr>
          <p:cNvPr id="103" name="Google Shape;103;p5"/>
          <p:cNvSpPr/>
          <p:nvPr/>
        </p:nvSpPr>
        <p:spPr>
          <a:xfrm>
            <a:off x="571500" y="1511796"/>
            <a:ext cx="428625" cy="2768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B4D8"/>
              </a:buClr>
              <a:buSzPts val="1600"/>
              <a:buFont typeface="Inter ExtraBold"/>
              <a:buNone/>
            </a:pPr>
            <a:r>
              <a:rPr b="1" i="0" lang="en-US" sz="1600" u="none" cap="none" strike="noStrike">
                <a:solidFill>
                  <a:srgbClr val="00B4D8"/>
                </a:solidFill>
                <a:latin typeface="Inter ExtraBold"/>
                <a:ea typeface="Inter ExtraBold"/>
                <a:cs typeface="Inter ExtraBold"/>
                <a:sym typeface="Inter ExtraBold"/>
              </a:rPr>
              <a:t>01</a:t>
            </a:r>
            <a:endParaRPr b="0" i="0" sz="1600" u="none" cap="none" strike="noStrike">
              <a:solidFill>
                <a:schemeClr val="dk1"/>
              </a:solidFill>
              <a:latin typeface="Calibri"/>
              <a:ea typeface="Calibri"/>
              <a:cs typeface="Calibri"/>
              <a:sym typeface="Calibri"/>
            </a:endParaRPr>
          </a:p>
        </p:txBody>
      </p:sp>
      <p:sp>
        <p:nvSpPr>
          <p:cNvPr id="104" name="Google Shape;104;p5"/>
          <p:cNvSpPr/>
          <p:nvPr/>
        </p:nvSpPr>
        <p:spPr>
          <a:xfrm>
            <a:off x="1000125" y="1450181"/>
            <a:ext cx="3357563" cy="40005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333F58"/>
              </a:buClr>
              <a:buSzPts val="1050"/>
              <a:buFont typeface="Inter Light"/>
              <a:buNone/>
            </a:pPr>
            <a:r>
              <a:rPr b="0" i="0" lang="en-US" sz="1050" u="none" cap="none" strike="noStrike">
                <a:solidFill>
                  <a:srgbClr val="333F58"/>
                </a:solidFill>
                <a:latin typeface="Inter Light"/>
                <a:ea typeface="Inter Light"/>
                <a:cs typeface="Inter Light"/>
                <a:sym typeface="Inter Light"/>
              </a:rPr>
              <a:t>Le pipeline CI/CD scanne le code et les dépendances automatiquement.</a:t>
            </a:r>
            <a:endParaRPr b="0" i="0" sz="1050" u="none" cap="none" strike="noStrike">
              <a:solidFill>
                <a:schemeClr val="dk1"/>
              </a:solidFill>
              <a:latin typeface="Calibri"/>
              <a:ea typeface="Calibri"/>
              <a:cs typeface="Calibri"/>
              <a:sym typeface="Calibri"/>
            </a:endParaRPr>
          </a:p>
        </p:txBody>
      </p:sp>
      <p:sp>
        <p:nvSpPr>
          <p:cNvPr id="105" name="Google Shape;105;p5"/>
          <p:cNvSpPr/>
          <p:nvPr/>
        </p:nvSpPr>
        <p:spPr>
          <a:xfrm>
            <a:off x="571500" y="2126159"/>
            <a:ext cx="428625" cy="2768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B4D8"/>
              </a:buClr>
              <a:buSzPts val="1600"/>
              <a:buFont typeface="Inter ExtraBold"/>
              <a:buNone/>
            </a:pPr>
            <a:r>
              <a:rPr b="1" i="0" lang="en-US" sz="1600" u="none" cap="none" strike="noStrike">
                <a:solidFill>
                  <a:srgbClr val="00B4D8"/>
                </a:solidFill>
                <a:latin typeface="Inter ExtraBold"/>
                <a:ea typeface="Inter ExtraBold"/>
                <a:cs typeface="Inter ExtraBold"/>
                <a:sym typeface="Inter ExtraBold"/>
              </a:rPr>
              <a:t>02</a:t>
            </a:r>
            <a:endParaRPr b="0" i="0" sz="1600" u="none" cap="none" strike="noStrike">
              <a:solidFill>
                <a:schemeClr val="dk1"/>
              </a:solidFill>
              <a:latin typeface="Calibri"/>
              <a:ea typeface="Calibri"/>
              <a:cs typeface="Calibri"/>
              <a:sym typeface="Calibri"/>
            </a:endParaRPr>
          </a:p>
        </p:txBody>
      </p:sp>
      <p:sp>
        <p:nvSpPr>
          <p:cNvPr id="106" name="Google Shape;106;p5"/>
          <p:cNvSpPr/>
          <p:nvPr/>
        </p:nvSpPr>
        <p:spPr>
          <a:xfrm>
            <a:off x="1000125" y="2064544"/>
            <a:ext cx="3357563" cy="40005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333F58"/>
              </a:buClr>
              <a:buSzPts val="1050"/>
              <a:buFont typeface="Inter Light"/>
              <a:buNone/>
            </a:pPr>
            <a:r>
              <a:rPr b="0" i="0" lang="en-US" sz="1050" u="none" cap="none" strike="noStrike">
                <a:solidFill>
                  <a:srgbClr val="333F58"/>
                </a:solidFill>
                <a:latin typeface="Inter Light"/>
                <a:ea typeface="Inter Light"/>
                <a:cs typeface="Inter Light"/>
                <a:sym typeface="Inter Light"/>
              </a:rPr>
              <a:t>Si un seuil critique est atteint, la </a:t>
            </a:r>
            <a:r>
              <a:rPr b="1" i="0" lang="en-US" sz="1000" u="none" cap="none" strike="noStrike">
                <a:solidFill>
                  <a:srgbClr val="0A192F"/>
                </a:solidFill>
                <a:latin typeface="Inter ExtraBold"/>
                <a:ea typeface="Inter ExtraBold"/>
                <a:cs typeface="Inter ExtraBold"/>
                <a:sym typeface="Inter ExtraBold"/>
              </a:rPr>
              <a:t>Security Gate bloque le déploiement</a:t>
            </a:r>
            <a:r>
              <a:rPr b="0" i="0" lang="en-US" sz="1050" u="none" cap="none" strike="noStrike">
                <a:solidFill>
                  <a:srgbClr val="333F58"/>
                </a:solidFill>
                <a:latin typeface="Inter Light"/>
                <a:ea typeface="Inter Light"/>
                <a:cs typeface="Inter Light"/>
                <a:sym typeface="Inter Light"/>
              </a:rPr>
              <a:t>.</a:t>
            </a:r>
            <a:endParaRPr b="0" i="0" sz="1050" u="none" cap="none" strike="noStrike">
              <a:solidFill>
                <a:schemeClr val="dk1"/>
              </a:solidFill>
              <a:latin typeface="Calibri"/>
              <a:ea typeface="Calibri"/>
              <a:cs typeface="Calibri"/>
              <a:sym typeface="Calibri"/>
            </a:endParaRPr>
          </a:p>
        </p:txBody>
      </p:sp>
      <p:sp>
        <p:nvSpPr>
          <p:cNvPr id="107" name="Google Shape;107;p5"/>
          <p:cNvSpPr/>
          <p:nvPr/>
        </p:nvSpPr>
        <p:spPr>
          <a:xfrm>
            <a:off x="571500" y="2740521"/>
            <a:ext cx="428625" cy="2768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B4D8"/>
              </a:buClr>
              <a:buSzPts val="1600"/>
              <a:buFont typeface="Inter ExtraBold"/>
              <a:buNone/>
            </a:pPr>
            <a:r>
              <a:rPr b="1" i="0" lang="en-US" sz="1600" u="none" cap="none" strike="noStrike">
                <a:solidFill>
                  <a:srgbClr val="00B4D8"/>
                </a:solidFill>
                <a:latin typeface="Inter ExtraBold"/>
                <a:ea typeface="Inter ExtraBold"/>
                <a:cs typeface="Inter ExtraBold"/>
                <a:sym typeface="Inter ExtraBold"/>
              </a:rPr>
              <a:t>03</a:t>
            </a:r>
            <a:endParaRPr b="0" i="0" sz="1600" u="none" cap="none" strike="noStrike">
              <a:solidFill>
                <a:schemeClr val="dk1"/>
              </a:solidFill>
              <a:latin typeface="Calibri"/>
              <a:ea typeface="Calibri"/>
              <a:cs typeface="Calibri"/>
              <a:sym typeface="Calibri"/>
            </a:endParaRPr>
          </a:p>
        </p:txBody>
      </p:sp>
      <p:sp>
        <p:nvSpPr>
          <p:cNvPr id="108" name="Google Shape;108;p5"/>
          <p:cNvSpPr/>
          <p:nvPr/>
        </p:nvSpPr>
        <p:spPr>
          <a:xfrm>
            <a:off x="1000125" y="2678906"/>
            <a:ext cx="3357563" cy="40005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333F58"/>
              </a:buClr>
              <a:buSzPts val="1050"/>
              <a:buFont typeface="Inter Light"/>
              <a:buNone/>
            </a:pPr>
            <a:r>
              <a:rPr b="0" i="0" lang="en-US" sz="1050" u="none" cap="none" strike="noStrike">
                <a:solidFill>
                  <a:srgbClr val="333F58"/>
                </a:solidFill>
                <a:latin typeface="Inter Light"/>
                <a:ea typeface="Inter Light"/>
                <a:cs typeface="Inter Light"/>
                <a:sym typeface="Inter Light"/>
              </a:rPr>
              <a:t>Le développeur est invité à </a:t>
            </a:r>
            <a:r>
              <a:rPr b="1" i="0" lang="en-US" sz="1000" u="none" cap="none" strike="noStrike">
                <a:solidFill>
                  <a:srgbClr val="0A192F"/>
                </a:solidFill>
                <a:latin typeface="Inter ExtraBold"/>
                <a:ea typeface="Inter ExtraBold"/>
                <a:cs typeface="Inter ExtraBold"/>
                <a:sym typeface="Inter ExtraBold"/>
              </a:rPr>
              <a:t>souscrire à l'offre</a:t>
            </a:r>
            <a:r>
              <a:rPr b="0" i="0" lang="en-US" sz="1050" u="none" cap="none" strike="noStrike">
                <a:solidFill>
                  <a:srgbClr val="333F58"/>
                </a:solidFill>
                <a:latin typeface="Inter Light"/>
                <a:ea typeface="Inter Light"/>
                <a:cs typeface="Inter Light"/>
                <a:sym typeface="Inter Light"/>
              </a:rPr>
              <a:t> pour résoudre le blocage.</a:t>
            </a:r>
            <a:endParaRPr b="0" i="0" sz="1050" u="none" cap="none" strike="noStrike">
              <a:solidFill>
                <a:schemeClr val="dk1"/>
              </a:solidFill>
              <a:latin typeface="Calibri"/>
              <a:ea typeface="Calibri"/>
              <a:cs typeface="Calibri"/>
              <a:sym typeface="Calibri"/>
            </a:endParaRPr>
          </a:p>
        </p:txBody>
      </p:sp>
      <p:sp>
        <p:nvSpPr>
          <p:cNvPr id="109" name="Google Shape;109;p5"/>
          <p:cNvSpPr/>
          <p:nvPr/>
        </p:nvSpPr>
        <p:spPr>
          <a:xfrm>
            <a:off x="4786313" y="1305520"/>
            <a:ext cx="3786188" cy="20716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A192F"/>
              </a:buClr>
              <a:buSzPts val="1200"/>
              <a:buFont typeface="Inter ExtraBold"/>
              <a:buNone/>
            </a:pPr>
            <a:r>
              <a:rPr b="1" i="0" lang="en-US" sz="1200" u="none" cap="none" strike="noStrike">
                <a:solidFill>
                  <a:srgbClr val="0A192F"/>
                </a:solidFill>
                <a:latin typeface="Inter ExtraBold"/>
                <a:ea typeface="Inter ExtraBold"/>
                <a:cs typeface="Inter ExtraBold"/>
                <a:sym typeface="Inter ExtraBold"/>
              </a:rPr>
              <a:t>Ce que l'offre apporte au développeur</a:t>
            </a:r>
            <a:endParaRPr b="0" i="0" sz="1200" u="none" cap="none" strike="noStrike">
              <a:solidFill>
                <a:schemeClr val="dk1"/>
              </a:solidFill>
              <a:latin typeface="Calibri"/>
              <a:ea typeface="Calibri"/>
              <a:cs typeface="Calibri"/>
              <a:sym typeface="Calibri"/>
            </a:endParaRPr>
          </a:p>
        </p:txBody>
      </p:sp>
      <p:pic>
        <p:nvPicPr>
          <p:cNvPr descr="preencoded.png" id="110" name="Google Shape;110;p5"/>
          <p:cNvPicPr preferRelativeResize="0"/>
          <p:nvPr/>
        </p:nvPicPr>
        <p:blipFill rotWithShape="1">
          <a:blip r:embed="rId4">
            <a:alphaModFix/>
          </a:blip>
          <a:srcRect b="0" l="0" r="0" t="0"/>
          <a:stretch/>
        </p:blipFill>
        <p:spPr>
          <a:xfrm>
            <a:off x="4786313" y="1670745"/>
            <a:ext cx="142875" cy="142875"/>
          </a:xfrm>
          <a:prstGeom prst="rect">
            <a:avLst/>
          </a:prstGeom>
          <a:noFill/>
          <a:ln>
            <a:noFill/>
          </a:ln>
        </p:spPr>
      </p:pic>
      <p:sp>
        <p:nvSpPr>
          <p:cNvPr id="111" name="Google Shape;111;p5"/>
          <p:cNvSpPr/>
          <p:nvPr/>
        </p:nvSpPr>
        <p:spPr>
          <a:xfrm>
            <a:off x="5036344" y="1655564"/>
            <a:ext cx="2153841" cy="17323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333F58"/>
              </a:buClr>
              <a:buSzPts val="1050"/>
              <a:buFont typeface="Inter Light"/>
              <a:buNone/>
            </a:pPr>
            <a:r>
              <a:rPr b="0" i="0" lang="en-US" sz="1050" u="none" cap="none" strike="noStrike">
                <a:solidFill>
                  <a:srgbClr val="333F58"/>
                </a:solidFill>
                <a:latin typeface="Inter Light"/>
                <a:ea typeface="Inter Light"/>
                <a:cs typeface="Inter Light"/>
                <a:sym typeface="Inter Light"/>
              </a:rPr>
              <a:t>Analyse approfondie du blocage</a:t>
            </a:r>
            <a:endParaRPr b="0" i="0" sz="1050" u="none" cap="none" strike="noStrike">
              <a:solidFill>
                <a:schemeClr val="dk1"/>
              </a:solidFill>
              <a:latin typeface="Calibri"/>
              <a:ea typeface="Calibri"/>
              <a:cs typeface="Calibri"/>
              <a:sym typeface="Calibri"/>
            </a:endParaRPr>
          </a:p>
        </p:txBody>
      </p:sp>
      <p:pic>
        <p:nvPicPr>
          <p:cNvPr descr="preencoded.png" id="112" name="Google Shape;112;p5"/>
          <p:cNvPicPr preferRelativeResize="0"/>
          <p:nvPr/>
        </p:nvPicPr>
        <p:blipFill rotWithShape="1">
          <a:blip r:embed="rId5">
            <a:alphaModFix/>
          </a:blip>
          <a:srcRect b="0" l="0" r="0" t="0"/>
          <a:stretch/>
        </p:blipFill>
        <p:spPr>
          <a:xfrm>
            <a:off x="4786313" y="1951137"/>
            <a:ext cx="142875" cy="142875"/>
          </a:xfrm>
          <a:prstGeom prst="rect">
            <a:avLst/>
          </a:prstGeom>
          <a:noFill/>
          <a:ln>
            <a:noFill/>
          </a:ln>
        </p:spPr>
      </p:pic>
      <p:sp>
        <p:nvSpPr>
          <p:cNvPr id="113" name="Google Shape;113;p5"/>
          <p:cNvSpPr/>
          <p:nvPr/>
        </p:nvSpPr>
        <p:spPr>
          <a:xfrm>
            <a:off x="5036344" y="1935956"/>
            <a:ext cx="1952030" cy="17323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333F58"/>
              </a:buClr>
              <a:buSzPts val="1050"/>
              <a:buFont typeface="Inter Light"/>
              <a:buNone/>
            </a:pPr>
            <a:r>
              <a:rPr b="0" i="0" lang="en-US" sz="1050" u="none" cap="none" strike="noStrike">
                <a:solidFill>
                  <a:srgbClr val="333F58"/>
                </a:solidFill>
                <a:latin typeface="Inter Light"/>
                <a:ea typeface="Inter Light"/>
                <a:cs typeface="Inter Light"/>
                <a:sym typeface="Inter Light"/>
              </a:rPr>
              <a:t>Qualification des faux positifs</a:t>
            </a:r>
            <a:endParaRPr b="0" i="0" sz="1050" u="none" cap="none" strike="noStrike">
              <a:solidFill>
                <a:schemeClr val="dk1"/>
              </a:solidFill>
              <a:latin typeface="Calibri"/>
              <a:ea typeface="Calibri"/>
              <a:cs typeface="Calibri"/>
              <a:sym typeface="Calibri"/>
            </a:endParaRPr>
          </a:p>
        </p:txBody>
      </p:sp>
      <p:pic>
        <p:nvPicPr>
          <p:cNvPr descr="preencoded.png" id="114" name="Google Shape;114;p5"/>
          <p:cNvPicPr preferRelativeResize="0"/>
          <p:nvPr/>
        </p:nvPicPr>
        <p:blipFill rotWithShape="1">
          <a:blip r:embed="rId6">
            <a:alphaModFix/>
          </a:blip>
          <a:srcRect b="0" l="0" r="0" t="0"/>
          <a:stretch/>
        </p:blipFill>
        <p:spPr>
          <a:xfrm>
            <a:off x="4786313" y="2231529"/>
            <a:ext cx="142875" cy="142875"/>
          </a:xfrm>
          <a:prstGeom prst="rect">
            <a:avLst/>
          </a:prstGeom>
          <a:noFill/>
          <a:ln>
            <a:noFill/>
          </a:ln>
        </p:spPr>
      </p:pic>
      <p:sp>
        <p:nvSpPr>
          <p:cNvPr id="115" name="Google Shape;115;p5"/>
          <p:cNvSpPr/>
          <p:nvPr/>
        </p:nvSpPr>
        <p:spPr>
          <a:xfrm>
            <a:off x="5036344" y="2216348"/>
            <a:ext cx="1859161" cy="17323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333F58"/>
              </a:buClr>
              <a:buSzPts val="1050"/>
              <a:buFont typeface="Inter Light"/>
              <a:buNone/>
            </a:pPr>
            <a:r>
              <a:rPr b="0" i="0" lang="en-US" sz="1050" u="none" cap="none" strike="noStrike">
                <a:solidFill>
                  <a:srgbClr val="333F58"/>
                </a:solidFill>
                <a:latin typeface="Inter Light"/>
                <a:ea typeface="Inter Light"/>
                <a:cs typeface="Inter Light"/>
                <a:sym typeface="Inter Light"/>
              </a:rPr>
              <a:t>Plan de remédiation priorisé</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descr="preencoded.png" id="121" name="Google Shape;121;p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22" name="Google Shape;122;p6"/>
          <p:cNvSpPr/>
          <p:nvPr/>
        </p:nvSpPr>
        <p:spPr>
          <a:xfrm>
            <a:off x="0" y="0"/>
            <a:ext cx="9144000" cy="1082278"/>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6"/>
          <p:cNvSpPr/>
          <p:nvPr/>
        </p:nvSpPr>
        <p:spPr>
          <a:xfrm>
            <a:off x="0" y="1053703"/>
            <a:ext cx="9144000" cy="28575"/>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6"/>
          <p:cNvSpPr/>
          <p:nvPr/>
        </p:nvSpPr>
        <p:spPr>
          <a:xfrm>
            <a:off x="571500" y="357188"/>
            <a:ext cx="8001000" cy="55364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A192F"/>
              </a:buClr>
              <a:buSzPts val="1600"/>
              <a:buFont typeface="Inter ExtraBold"/>
              <a:buNone/>
            </a:pPr>
            <a:r>
              <a:rPr b="1" i="0" lang="en-US" sz="1600" u="none" cap="none" strike="noStrike">
                <a:solidFill>
                  <a:srgbClr val="0A192F"/>
                </a:solidFill>
                <a:latin typeface="Inter ExtraBold"/>
                <a:ea typeface="Inter ExtraBold"/>
                <a:cs typeface="Inter ExtraBold"/>
                <a:sym typeface="Inter ExtraBold"/>
              </a:rPr>
              <a:t>Modalités de souscription : Comment bénéficier de l'accompagnement ?</a:t>
            </a:r>
            <a:endParaRPr b="0" i="0" sz="1600" u="none" cap="none" strike="noStrike">
              <a:solidFill>
                <a:schemeClr val="dk1"/>
              </a:solidFill>
              <a:latin typeface="Calibri"/>
              <a:ea typeface="Calibri"/>
              <a:cs typeface="Calibri"/>
              <a:sym typeface="Calibri"/>
            </a:endParaRPr>
          </a:p>
        </p:txBody>
      </p:sp>
      <p:pic>
        <p:nvPicPr>
          <p:cNvPr descr="preencoded.png" id="125" name="Google Shape;125;p6"/>
          <p:cNvPicPr preferRelativeResize="0"/>
          <p:nvPr/>
        </p:nvPicPr>
        <p:blipFill rotWithShape="1">
          <a:blip r:embed="rId4">
            <a:alphaModFix/>
          </a:blip>
          <a:srcRect b="0" l="0" r="0" t="0"/>
          <a:stretch/>
        </p:blipFill>
        <p:spPr>
          <a:xfrm>
            <a:off x="571500" y="1582341"/>
            <a:ext cx="2476509" cy="285750"/>
          </a:xfrm>
          <a:prstGeom prst="rect">
            <a:avLst/>
          </a:prstGeom>
          <a:noFill/>
          <a:ln>
            <a:noFill/>
          </a:ln>
        </p:spPr>
      </p:pic>
      <p:sp>
        <p:nvSpPr>
          <p:cNvPr id="126" name="Google Shape;126;p6"/>
          <p:cNvSpPr/>
          <p:nvPr/>
        </p:nvSpPr>
        <p:spPr>
          <a:xfrm>
            <a:off x="571500" y="2010966"/>
            <a:ext cx="2476509" cy="411435"/>
          </a:xfrm>
          <a:prstGeom prst="rect">
            <a:avLst/>
          </a:prstGeom>
          <a:noFill/>
          <a:ln>
            <a:noFill/>
          </a:ln>
        </p:spPr>
        <p:txBody>
          <a:bodyPr anchorCtr="0" anchor="t" bIns="0" lIns="0" spcFirstLastPara="1" rIns="0" wrap="square" tIns="0">
            <a:spAutoFit/>
          </a:bodyPr>
          <a:lstStyle/>
          <a:p>
            <a:pPr indent="0" lvl="0" marL="0" marR="0" rtl="0" algn="l">
              <a:lnSpc>
                <a:spcPct val="96000"/>
              </a:lnSpc>
              <a:spcBef>
                <a:spcPts val="0"/>
              </a:spcBef>
              <a:spcAft>
                <a:spcPts val="0"/>
              </a:spcAft>
              <a:buClr>
                <a:srgbClr val="0A192F"/>
              </a:buClr>
              <a:buSzPts val="1200"/>
              <a:buFont typeface="Inter ExtraBold"/>
              <a:buNone/>
            </a:pPr>
            <a:r>
              <a:rPr b="1" i="0" lang="en-US" sz="1200" u="none" cap="none" strike="noStrike">
                <a:solidFill>
                  <a:srgbClr val="0A192F"/>
                </a:solidFill>
                <a:latin typeface="Inter ExtraBold"/>
                <a:ea typeface="Inter ExtraBold"/>
                <a:cs typeface="Inter ExtraBold"/>
                <a:sym typeface="Inter ExtraBold"/>
              </a:rPr>
              <a:t>1. Souscription sur blocage (Réactif)</a:t>
            </a:r>
            <a:endParaRPr b="0" i="0" sz="1200" u="none" cap="none" strike="noStrike">
              <a:solidFill>
                <a:schemeClr val="dk1"/>
              </a:solidFill>
              <a:latin typeface="Calibri"/>
              <a:ea typeface="Calibri"/>
              <a:cs typeface="Calibri"/>
              <a:sym typeface="Calibri"/>
            </a:endParaRPr>
          </a:p>
        </p:txBody>
      </p:sp>
      <p:sp>
        <p:nvSpPr>
          <p:cNvPr id="127" name="Google Shape;127;p6"/>
          <p:cNvSpPr/>
          <p:nvPr/>
        </p:nvSpPr>
        <p:spPr>
          <a:xfrm>
            <a:off x="571500" y="2565276"/>
            <a:ext cx="2476509" cy="578644"/>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333F58"/>
              </a:buClr>
              <a:buSzPts val="950"/>
              <a:buFont typeface="Inter Light"/>
              <a:buNone/>
            </a:pPr>
            <a:r>
              <a:rPr b="0" i="0" lang="en-US" sz="950" u="none" cap="none" strike="noStrike">
                <a:solidFill>
                  <a:srgbClr val="333F58"/>
                </a:solidFill>
                <a:latin typeface="Inter Light"/>
                <a:ea typeface="Inter Light"/>
                <a:cs typeface="Inter Light"/>
                <a:sym typeface="Inter Light"/>
              </a:rPr>
              <a:t>Accompagnement d'urgence pour lever une </a:t>
            </a:r>
            <a:r>
              <a:rPr b="1" i="0" lang="en-US" sz="900" u="none" cap="none" strike="noStrike">
                <a:solidFill>
                  <a:srgbClr val="0A192F"/>
                </a:solidFill>
                <a:latin typeface="Inter ExtraBold"/>
                <a:ea typeface="Inter ExtraBold"/>
                <a:cs typeface="Inter ExtraBold"/>
                <a:sym typeface="Inter ExtraBold"/>
              </a:rPr>
              <a:t>Security Gate</a:t>
            </a:r>
            <a:r>
              <a:rPr b="0" i="0" lang="en-US" sz="950" u="none" cap="none" strike="noStrike">
                <a:solidFill>
                  <a:srgbClr val="333F58"/>
                </a:solidFill>
                <a:latin typeface="Inter Light"/>
                <a:ea typeface="Inter Light"/>
                <a:cs typeface="Inter Light"/>
                <a:sym typeface="Inter Light"/>
              </a:rPr>
              <a:t> bloquante en production ou pré-production.</a:t>
            </a:r>
            <a:endParaRPr b="0" i="0" sz="950" u="none" cap="none" strike="noStrike">
              <a:solidFill>
                <a:schemeClr val="dk1"/>
              </a:solidFill>
              <a:latin typeface="Calibri"/>
              <a:ea typeface="Calibri"/>
              <a:cs typeface="Calibri"/>
              <a:sym typeface="Calibri"/>
            </a:endParaRPr>
          </a:p>
        </p:txBody>
      </p:sp>
      <p:pic>
        <p:nvPicPr>
          <p:cNvPr descr="preencoded.png" id="128" name="Google Shape;128;p6"/>
          <p:cNvPicPr preferRelativeResize="0"/>
          <p:nvPr/>
        </p:nvPicPr>
        <p:blipFill rotWithShape="1">
          <a:blip r:embed="rId5">
            <a:alphaModFix/>
          </a:blip>
          <a:srcRect b="0" l="0" r="0" t="0"/>
          <a:stretch/>
        </p:blipFill>
        <p:spPr>
          <a:xfrm>
            <a:off x="3333759" y="1582341"/>
            <a:ext cx="2476509" cy="285750"/>
          </a:xfrm>
          <a:prstGeom prst="rect">
            <a:avLst/>
          </a:prstGeom>
          <a:noFill/>
          <a:ln>
            <a:noFill/>
          </a:ln>
        </p:spPr>
      </p:pic>
      <p:sp>
        <p:nvSpPr>
          <p:cNvPr id="129" name="Google Shape;129;p6"/>
          <p:cNvSpPr/>
          <p:nvPr/>
        </p:nvSpPr>
        <p:spPr>
          <a:xfrm>
            <a:off x="3333759" y="2010966"/>
            <a:ext cx="2476509" cy="411435"/>
          </a:xfrm>
          <a:prstGeom prst="rect">
            <a:avLst/>
          </a:prstGeom>
          <a:noFill/>
          <a:ln>
            <a:noFill/>
          </a:ln>
        </p:spPr>
        <p:txBody>
          <a:bodyPr anchorCtr="0" anchor="t" bIns="0" lIns="0" spcFirstLastPara="1" rIns="0" wrap="square" tIns="0">
            <a:spAutoFit/>
          </a:bodyPr>
          <a:lstStyle/>
          <a:p>
            <a:pPr indent="0" lvl="0" marL="0" marR="0" rtl="0" algn="l">
              <a:lnSpc>
                <a:spcPct val="96000"/>
              </a:lnSpc>
              <a:spcBef>
                <a:spcPts val="0"/>
              </a:spcBef>
              <a:spcAft>
                <a:spcPts val="0"/>
              </a:spcAft>
              <a:buClr>
                <a:srgbClr val="0A192F"/>
              </a:buClr>
              <a:buSzPts val="1200"/>
              <a:buFont typeface="Inter ExtraBold"/>
              <a:buNone/>
            </a:pPr>
            <a:r>
              <a:rPr b="1" i="0" lang="en-US" sz="1200" u="none" cap="none" strike="noStrike">
                <a:solidFill>
                  <a:srgbClr val="0A192F"/>
                </a:solidFill>
                <a:latin typeface="Inter ExtraBold"/>
                <a:ea typeface="Inter ExtraBold"/>
                <a:cs typeface="Inter ExtraBold"/>
                <a:sym typeface="Inter ExtraBold"/>
              </a:rPr>
              <a:t>2. Souscription post-pentest (Suivi)</a:t>
            </a:r>
            <a:endParaRPr b="0" i="0" sz="1200" u="none" cap="none" strike="noStrike">
              <a:solidFill>
                <a:schemeClr val="dk1"/>
              </a:solidFill>
              <a:latin typeface="Calibri"/>
              <a:ea typeface="Calibri"/>
              <a:cs typeface="Calibri"/>
              <a:sym typeface="Calibri"/>
            </a:endParaRPr>
          </a:p>
        </p:txBody>
      </p:sp>
      <p:sp>
        <p:nvSpPr>
          <p:cNvPr id="130" name="Google Shape;130;p6"/>
          <p:cNvSpPr/>
          <p:nvPr/>
        </p:nvSpPr>
        <p:spPr>
          <a:xfrm>
            <a:off x="3333759" y="2565276"/>
            <a:ext cx="2476509" cy="7715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333F58"/>
              </a:buClr>
              <a:buSzPts val="950"/>
              <a:buFont typeface="Inter Light"/>
              <a:buNone/>
            </a:pPr>
            <a:r>
              <a:rPr b="0" i="0" lang="en-US" sz="950" u="none" cap="none" strike="noStrike">
                <a:solidFill>
                  <a:srgbClr val="333F58"/>
                </a:solidFill>
                <a:latin typeface="Inter Light"/>
                <a:ea typeface="Inter Light"/>
                <a:cs typeface="Inter Light"/>
                <a:sym typeface="Inter Light"/>
              </a:rPr>
              <a:t>Aide à la compréhension et à la remédiation suite à un rapport de l'équipe </a:t>
            </a:r>
            <a:r>
              <a:rPr b="1" i="0" lang="en-US" sz="900" u="none" cap="none" strike="noStrike">
                <a:solidFill>
                  <a:srgbClr val="0A192F"/>
                </a:solidFill>
                <a:latin typeface="Inter ExtraBold"/>
                <a:ea typeface="Inter ExtraBold"/>
                <a:cs typeface="Inter ExtraBold"/>
                <a:sym typeface="Inter ExtraBold"/>
              </a:rPr>
              <a:t>Offensive</a:t>
            </a:r>
            <a:r>
              <a:rPr b="0" i="0" lang="en-US" sz="950" u="none" cap="none" strike="noStrike">
                <a:solidFill>
                  <a:srgbClr val="333F58"/>
                </a:solidFill>
                <a:latin typeface="Inter Light"/>
                <a:ea typeface="Inter Light"/>
                <a:cs typeface="Inter Light"/>
                <a:sym typeface="Inter Light"/>
              </a:rPr>
              <a:t> ou d'un prestataire externe.</a:t>
            </a:r>
            <a:endParaRPr b="0" i="0" sz="950" u="none" cap="none" strike="noStrike">
              <a:solidFill>
                <a:schemeClr val="dk1"/>
              </a:solidFill>
              <a:latin typeface="Calibri"/>
              <a:ea typeface="Calibri"/>
              <a:cs typeface="Calibri"/>
              <a:sym typeface="Calibri"/>
            </a:endParaRPr>
          </a:p>
        </p:txBody>
      </p:sp>
      <p:pic>
        <p:nvPicPr>
          <p:cNvPr descr="preencoded.png" id="131" name="Google Shape;131;p6"/>
          <p:cNvPicPr preferRelativeResize="0"/>
          <p:nvPr/>
        </p:nvPicPr>
        <p:blipFill rotWithShape="1">
          <a:blip r:embed="rId6">
            <a:alphaModFix/>
          </a:blip>
          <a:srcRect b="0" l="0" r="0" t="0"/>
          <a:stretch/>
        </p:blipFill>
        <p:spPr>
          <a:xfrm>
            <a:off x="6096019" y="1582341"/>
            <a:ext cx="2476509" cy="285750"/>
          </a:xfrm>
          <a:prstGeom prst="rect">
            <a:avLst/>
          </a:prstGeom>
          <a:noFill/>
          <a:ln>
            <a:noFill/>
          </a:ln>
        </p:spPr>
      </p:pic>
      <p:sp>
        <p:nvSpPr>
          <p:cNvPr id="132" name="Google Shape;132;p6"/>
          <p:cNvSpPr/>
          <p:nvPr/>
        </p:nvSpPr>
        <p:spPr>
          <a:xfrm>
            <a:off x="6096019" y="2010966"/>
            <a:ext cx="2476509" cy="411435"/>
          </a:xfrm>
          <a:prstGeom prst="rect">
            <a:avLst/>
          </a:prstGeom>
          <a:noFill/>
          <a:ln>
            <a:noFill/>
          </a:ln>
        </p:spPr>
        <p:txBody>
          <a:bodyPr anchorCtr="0" anchor="t" bIns="0" lIns="0" spcFirstLastPara="1" rIns="0" wrap="square" tIns="0">
            <a:spAutoFit/>
          </a:bodyPr>
          <a:lstStyle/>
          <a:p>
            <a:pPr indent="0" lvl="0" marL="0" marR="0" rtl="0" algn="l">
              <a:lnSpc>
                <a:spcPct val="96000"/>
              </a:lnSpc>
              <a:spcBef>
                <a:spcPts val="0"/>
              </a:spcBef>
              <a:spcAft>
                <a:spcPts val="0"/>
              </a:spcAft>
              <a:buClr>
                <a:srgbClr val="0A192F"/>
              </a:buClr>
              <a:buSzPts val="1200"/>
              <a:buFont typeface="Inter ExtraBold"/>
              <a:buNone/>
            </a:pPr>
            <a:r>
              <a:rPr b="1" i="0" lang="en-US" sz="1200" u="none" cap="none" strike="noStrike">
                <a:solidFill>
                  <a:srgbClr val="0A192F"/>
                </a:solidFill>
                <a:latin typeface="Inter ExtraBold"/>
                <a:ea typeface="Inter ExtraBold"/>
                <a:cs typeface="Inter ExtraBold"/>
                <a:sym typeface="Inter ExtraBold"/>
              </a:rPr>
              <a:t>3. Souscription proactive (Audit)</a:t>
            </a:r>
            <a:endParaRPr b="0" i="0" sz="1200" u="none" cap="none" strike="noStrike">
              <a:solidFill>
                <a:schemeClr val="dk1"/>
              </a:solidFill>
              <a:latin typeface="Calibri"/>
              <a:ea typeface="Calibri"/>
              <a:cs typeface="Calibri"/>
              <a:sym typeface="Calibri"/>
            </a:endParaRPr>
          </a:p>
        </p:txBody>
      </p:sp>
      <p:sp>
        <p:nvSpPr>
          <p:cNvPr id="133" name="Google Shape;133;p6"/>
          <p:cNvSpPr/>
          <p:nvPr/>
        </p:nvSpPr>
        <p:spPr>
          <a:xfrm>
            <a:off x="6096019" y="2565276"/>
            <a:ext cx="2476509" cy="7715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333F58"/>
              </a:buClr>
              <a:buSzPts val="950"/>
              <a:buFont typeface="Inter Light"/>
              <a:buNone/>
            </a:pPr>
            <a:r>
              <a:rPr b="0" i="0" lang="en-US" sz="950" u="none" cap="none" strike="noStrike">
                <a:solidFill>
                  <a:srgbClr val="333F58"/>
                </a:solidFill>
                <a:latin typeface="Inter Light"/>
                <a:ea typeface="Inter Light"/>
                <a:cs typeface="Inter Light"/>
                <a:sym typeface="Inter Light"/>
              </a:rPr>
              <a:t>Demande d'</a:t>
            </a:r>
            <a:r>
              <a:rPr b="1" i="0" lang="en-US" sz="900" u="none" cap="none" strike="noStrike">
                <a:solidFill>
                  <a:srgbClr val="0A192F"/>
                </a:solidFill>
                <a:latin typeface="Inter ExtraBold"/>
                <a:ea typeface="Inter ExtraBold"/>
                <a:cs typeface="Inter ExtraBold"/>
                <a:sym typeface="Inter ExtraBold"/>
              </a:rPr>
              <a:t>audit manuel</a:t>
            </a:r>
            <a:r>
              <a:rPr b="0" i="0" lang="en-US" sz="950" u="none" cap="none" strike="noStrike">
                <a:solidFill>
                  <a:srgbClr val="333F58"/>
                </a:solidFill>
                <a:latin typeface="Inter Light"/>
                <a:ea typeface="Inter Light"/>
                <a:cs typeface="Inter Light"/>
                <a:sym typeface="Inter Light"/>
              </a:rPr>
              <a:t> (Architecture/Code) avant le lancement d'un nouveau projet ou d'une release majeure.</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descr="preencoded.png" id="139" name="Google Shape;139;p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40" name="Google Shape;140;p7"/>
          <p:cNvSpPr/>
          <p:nvPr/>
        </p:nvSpPr>
        <p:spPr>
          <a:xfrm>
            <a:off x="0" y="0"/>
            <a:ext cx="9144000" cy="805458"/>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7"/>
          <p:cNvSpPr/>
          <p:nvPr/>
        </p:nvSpPr>
        <p:spPr>
          <a:xfrm>
            <a:off x="0" y="776883"/>
            <a:ext cx="9144000" cy="28575"/>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7"/>
          <p:cNvSpPr/>
          <p:nvPr/>
        </p:nvSpPr>
        <p:spPr>
          <a:xfrm>
            <a:off x="571500" y="357188"/>
            <a:ext cx="8001000" cy="2768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A192F"/>
              </a:buClr>
              <a:buSzPts val="1600"/>
              <a:buFont typeface="Inter ExtraBold"/>
              <a:buNone/>
            </a:pPr>
            <a:r>
              <a:rPr b="1" i="0" lang="en-US" sz="1600" u="none" cap="none" strike="noStrike">
                <a:solidFill>
                  <a:srgbClr val="0A192F"/>
                </a:solidFill>
                <a:latin typeface="Inter ExtraBold"/>
                <a:ea typeface="Inter ExtraBold"/>
                <a:cs typeface="Inter ExtraBold"/>
                <a:sym typeface="Inter ExtraBold"/>
              </a:rPr>
              <a:t>Zoom SAST : SonarQube comme filet de sécurité dans le code</a:t>
            </a:r>
            <a:endParaRPr b="0" i="0" sz="1600" u="none" cap="none" strike="noStrike">
              <a:solidFill>
                <a:schemeClr val="dk1"/>
              </a:solidFill>
              <a:latin typeface="Calibri"/>
              <a:ea typeface="Calibri"/>
              <a:cs typeface="Calibri"/>
              <a:sym typeface="Calibri"/>
            </a:endParaRPr>
          </a:p>
        </p:txBody>
      </p:sp>
      <p:sp>
        <p:nvSpPr>
          <p:cNvPr id="143" name="Google Shape;143;p7"/>
          <p:cNvSpPr/>
          <p:nvPr/>
        </p:nvSpPr>
        <p:spPr>
          <a:xfrm>
            <a:off x="571500" y="1019770"/>
            <a:ext cx="3714750" cy="17323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A192F"/>
              </a:buClr>
              <a:buSzPts val="1000"/>
              <a:buFont typeface="Inter ExtraBold"/>
              <a:buNone/>
            </a:pPr>
            <a:r>
              <a:rPr b="1" i="0" lang="en-US" sz="1000" u="none" cap="none" strike="noStrike">
                <a:solidFill>
                  <a:srgbClr val="0A192F"/>
                </a:solidFill>
                <a:latin typeface="Inter ExtraBold"/>
                <a:ea typeface="Inter ExtraBold"/>
                <a:cs typeface="Inter ExtraBold"/>
                <a:sym typeface="Inter ExtraBold"/>
              </a:rPr>
              <a:t>CE QUE SONARQUBE DÉTECTE</a:t>
            </a:r>
            <a:endParaRPr b="0" i="0" sz="1000" u="none" cap="none" strike="noStrike">
              <a:solidFill>
                <a:schemeClr val="dk1"/>
              </a:solidFill>
              <a:latin typeface="Calibri"/>
              <a:ea typeface="Calibri"/>
              <a:cs typeface="Calibri"/>
              <a:sym typeface="Calibri"/>
            </a:endParaRPr>
          </a:p>
        </p:txBody>
      </p:sp>
      <p:pic>
        <p:nvPicPr>
          <p:cNvPr descr="preencoded.png" id="144" name="Google Shape;144;p7"/>
          <p:cNvPicPr preferRelativeResize="0"/>
          <p:nvPr/>
        </p:nvPicPr>
        <p:blipFill rotWithShape="1">
          <a:blip r:embed="rId4">
            <a:alphaModFix/>
          </a:blip>
          <a:srcRect b="0" l="0" r="0" t="0"/>
          <a:stretch/>
        </p:blipFill>
        <p:spPr>
          <a:xfrm>
            <a:off x="571500" y="1335881"/>
            <a:ext cx="142875" cy="128588"/>
          </a:xfrm>
          <a:prstGeom prst="rect">
            <a:avLst/>
          </a:prstGeom>
          <a:noFill/>
          <a:ln>
            <a:noFill/>
          </a:ln>
        </p:spPr>
      </p:pic>
      <p:sp>
        <p:nvSpPr>
          <p:cNvPr id="145" name="Google Shape;145;p7"/>
          <p:cNvSpPr/>
          <p:nvPr/>
        </p:nvSpPr>
        <p:spPr>
          <a:xfrm>
            <a:off x="821531" y="1307306"/>
            <a:ext cx="1673423" cy="1714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333F58"/>
              </a:buClr>
              <a:buSzPts val="850"/>
              <a:buFont typeface="Inter Light"/>
              <a:buNone/>
            </a:pPr>
            <a:r>
              <a:rPr b="0" i="0" lang="en-US" sz="850" u="none" cap="none" strike="noStrike">
                <a:solidFill>
                  <a:srgbClr val="333F58"/>
                </a:solidFill>
                <a:latin typeface="Inter Light"/>
                <a:ea typeface="Inter Light"/>
                <a:cs typeface="Inter Light"/>
                <a:sym typeface="Inter Light"/>
              </a:rPr>
              <a:t>Injections SQL, XSS, SSRF, XXE</a:t>
            </a:r>
            <a:endParaRPr b="0" i="0" sz="850" u="none" cap="none" strike="noStrike">
              <a:solidFill>
                <a:schemeClr val="dk1"/>
              </a:solidFill>
              <a:latin typeface="Calibri"/>
              <a:ea typeface="Calibri"/>
              <a:cs typeface="Calibri"/>
              <a:sym typeface="Calibri"/>
            </a:endParaRPr>
          </a:p>
        </p:txBody>
      </p:sp>
      <p:pic>
        <p:nvPicPr>
          <p:cNvPr descr="preencoded.png" id="146" name="Google Shape;146;p7"/>
          <p:cNvPicPr preferRelativeResize="0"/>
          <p:nvPr/>
        </p:nvPicPr>
        <p:blipFill rotWithShape="1">
          <a:blip r:embed="rId5">
            <a:alphaModFix/>
          </a:blip>
          <a:srcRect b="0" l="0" r="0" t="0"/>
          <a:stretch/>
        </p:blipFill>
        <p:spPr>
          <a:xfrm>
            <a:off x="571500" y="1593056"/>
            <a:ext cx="142875" cy="128588"/>
          </a:xfrm>
          <a:prstGeom prst="rect">
            <a:avLst/>
          </a:prstGeom>
          <a:noFill/>
          <a:ln>
            <a:noFill/>
          </a:ln>
        </p:spPr>
      </p:pic>
      <p:sp>
        <p:nvSpPr>
          <p:cNvPr id="147" name="Google Shape;147;p7"/>
          <p:cNvSpPr/>
          <p:nvPr/>
        </p:nvSpPr>
        <p:spPr>
          <a:xfrm>
            <a:off x="821531" y="1564481"/>
            <a:ext cx="2880717" cy="1714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333F58"/>
              </a:buClr>
              <a:buSzPts val="850"/>
              <a:buFont typeface="Inter Light"/>
              <a:buNone/>
            </a:pPr>
            <a:r>
              <a:rPr b="0" i="0" lang="en-US" sz="850" u="none" cap="none" strike="noStrike">
                <a:solidFill>
                  <a:srgbClr val="333F58"/>
                </a:solidFill>
                <a:latin typeface="Inter Light"/>
                <a:ea typeface="Inter Light"/>
                <a:cs typeface="Inter Light"/>
                <a:sym typeface="Inter Light"/>
              </a:rPr>
              <a:t>Mauvaise gestion des secrets (hardcoded credentials)</a:t>
            </a:r>
            <a:endParaRPr b="0" i="0" sz="850" u="none" cap="none" strike="noStrike">
              <a:solidFill>
                <a:schemeClr val="dk1"/>
              </a:solidFill>
              <a:latin typeface="Calibri"/>
              <a:ea typeface="Calibri"/>
              <a:cs typeface="Calibri"/>
              <a:sym typeface="Calibri"/>
            </a:endParaRPr>
          </a:p>
        </p:txBody>
      </p:sp>
      <p:pic>
        <p:nvPicPr>
          <p:cNvPr descr="preencoded.png" id="148" name="Google Shape;148;p7"/>
          <p:cNvPicPr preferRelativeResize="0"/>
          <p:nvPr/>
        </p:nvPicPr>
        <p:blipFill rotWithShape="1">
          <a:blip r:embed="rId6">
            <a:alphaModFix/>
          </a:blip>
          <a:srcRect b="0" l="0" r="0" t="0"/>
          <a:stretch/>
        </p:blipFill>
        <p:spPr>
          <a:xfrm>
            <a:off x="571500" y="1850231"/>
            <a:ext cx="142875" cy="128588"/>
          </a:xfrm>
          <a:prstGeom prst="rect">
            <a:avLst/>
          </a:prstGeom>
          <a:noFill/>
          <a:ln>
            <a:noFill/>
          </a:ln>
        </p:spPr>
      </p:pic>
      <p:sp>
        <p:nvSpPr>
          <p:cNvPr id="149" name="Google Shape;149;p7"/>
          <p:cNvSpPr/>
          <p:nvPr/>
        </p:nvSpPr>
        <p:spPr>
          <a:xfrm>
            <a:off x="821531" y="1821656"/>
            <a:ext cx="3464719" cy="342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333F58"/>
              </a:buClr>
              <a:buSzPts val="850"/>
              <a:buFont typeface="Inter Light"/>
              <a:buNone/>
            </a:pPr>
            <a:r>
              <a:rPr b="0" i="0" lang="en-US" sz="850" u="none" cap="none" strike="noStrike">
                <a:solidFill>
                  <a:srgbClr val="333F58"/>
                </a:solidFill>
                <a:latin typeface="Inter Light"/>
                <a:ea typeface="Inter Light"/>
                <a:cs typeface="Inter Light"/>
                <a:sym typeface="Inter Light"/>
              </a:rPr>
              <a:t>Failles cryptographiques (algorithmes faibles, mauvaise gestion des certificats)</a:t>
            </a:r>
            <a:endParaRPr b="0" i="0" sz="850" u="none" cap="none" strike="noStrike">
              <a:solidFill>
                <a:schemeClr val="dk1"/>
              </a:solidFill>
              <a:latin typeface="Calibri"/>
              <a:ea typeface="Calibri"/>
              <a:cs typeface="Calibri"/>
              <a:sym typeface="Calibri"/>
            </a:endParaRPr>
          </a:p>
        </p:txBody>
      </p:sp>
      <p:pic>
        <p:nvPicPr>
          <p:cNvPr descr="preencoded.png" id="150" name="Google Shape;150;p7"/>
          <p:cNvPicPr preferRelativeResize="0"/>
          <p:nvPr/>
        </p:nvPicPr>
        <p:blipFill rotWithShape="1">
          <a:blip r:embed="rId7">
            <a:alphaModFix/>
          </a:blip>
          <a:srcRect b="0" l="0" r="0" t="0"/>
          <a:stretch/>
        </p:blipFill>
        <p:spPr>
          <a:xfrm>
            <a:off x="571500" y="2278856"/>
            <a:ext cx="142875" cy="128588"/>
          </a:xfrm>
          <a:prstGeom prst="rect">
            <a:avLst/>
          </a:prstGeom>
          <a:noFill/>
          <a:ln>
            <a:noFill/>
          </a:ln>
        </p:spPr>
      </p:pic>
      <p:sp>
        <p:nvSpPr>
          <p:cNvPr id="151" name="Google Shape;151;p7"/>
          <p:cNvSpPr/>
          <p:nvPr/>
        </p:nvSpPr>
        <p:spPr>
          <a:xfrm>
            <a:off x="821531" y="2250281"/>
            <a:ext cx="1651992" cy="1714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333F58"/>
              </a:buClr>
              <a:buSzPts val="850"/>
              <a:buFont typeface="Inter Light"/>
              <a:buNone/>
            </a:pPr>
            <a:r>
              <a:rPr b="0" i="0" lang="en-US" sz="850" u="none" cap="none" strike="noStrike">
                <a:solidFill>
                  <a:srgbClr val="333F58"/>
                </a:solidFill>
                <a:latin typeface="Inter Light"/>
                <a:ea typeface="Inter Light"/>
                <a:cs typeface="Inter Light"/>
                <a:sym typeface="Inter Light"/>
              </a:rPr>
              <a:t>Problèmes de contrôle d'accès</a:t>
            </a:r>
            <a:endParaRPr b="0" i="0" sz="850" u="none" cap="none" strike="noStrike">
              <a:solidFill>
                <a:schemeClr val="dk1"/>
              </a:solidFill>
              <a:latin typeface="Calibri"/>
              <a:ea typeface="Calibri"/>
              <a:cs typeface="Calibri"/>
              <a:sym typeface="Calibri"/>
            </a:endParaRPr>
          </a:p>
        </p:txBody>
      </p:sp>
      <p:sp>
        <p:nvSpPr>
          <p:cNvPr id="152" name="Google Shape;152;p7"/>
          <p:cNvSpPr/>
          <p:nvPr/>
        </p:nvSpPr>
        <p:spPr>
          <a:xfrm>
            <a:off x="571500" y="2821781"/>
            <a:ext cx="3714750" cy="17323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A192F"/>
              </a:buClr>
              <a:buSzPts val="1000"/>
              <a:buFont typeface="Inter ExtraBold"/>
              <a:buNone/>
            </a:pPr>
            <a:r>
              <a:rPr b="1" i="0" lang="en-US" sz="1000" u="none" cap="none" strike="noStrike">
                <a:solidFill>
                  <a:srgbClr val="0A192F"/>
                </a:solidFill>
                <a:latin typeface="Inter ExtraBold"/>
                <a:ea typeface="Inter ExtraBold"/>
                <a:cs typeface="Inter ExtraBold"/>
                <a:sym typeface="Inter ExtraBold"/>
              </a:rPr>
              <a:t>CE QUE L'OFFRE APPORTE</a:t>
            </a:r>
            <a:endParaRPr b="0" i="0" sz="1000" u="none" cap="none" strike="noStrike">
              <a:solidFill>
                <a:schemeClr val="dk1"/>
              </a:solidFill>
              <a:latin typeface="Calibri"/>
              <a:ea typeface="Calibri"/>
              <a:cs typeface="Calibri"/>
              <a:sym typeface="Calibri"/>
            </a:endParaRPr>
          </a:p>
        </p:txBody>
      </p:sp>
      <p:pic>
        <p:nvPicPr>
          <p:cNvPr descr="preencoded.png" id="153" name="Google Shape;153;p7"/>
          <p:cNvPicPr preferRelativeResize="0"/>
          <p:nvPr/>
        </p:nvPicPr>
        <p:blipFill rotWithShape="1">
          <a:blip r:embed="rId8">
            <a:alphaModFix/>
          </a:blip>
          <a:srcRect b="0" l="0" r="0" t="0"/>
          <a:stretch/>
        </p:blipFill>
        <p:spPr>
          <a:xfrm>
            <a:off x="571500" y="3137892"/>
            <a:ext cx="142875" cy="128588"/>
          </a:xfrm>
          <a:prstGeom prst="rect">
            <a:avLst/>
          </a:prstGeom>
          <a:noFill/>
          <a:ln>
            <a:noFill/>
          </a:ln>
        </p:spPr>
      </p:pic>
      <p:sp>
        <p:nvSpPr>
          <p:cNvPr id="154" name="Google Shape;154;p7"/>
          <p:cNvSpPr/>
          <p:nvPr/>
        </p:nvSpPr>
        <p:spPr>
          <a:xfrm>
            <a:off x="821531" y="3109317"/>
            <a:ext cx="2134195" cy="1714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333F58"/>
              </a:buClr>
              <a:buSzPts val="850"/>
              <a:buFont typeface="Inter Light"/>
              <a:buNone/>
            </a:pPr>
            <a:r>
              <a:rPr b="0" i="0" lang="en-US" sz="850" u="none" cap="none" strike="noStrike">
                <a:solidFill>
                  <a:srgbClr val="333F58"/>
                </a:solidFill>
                <a:latin typeface="Inter Light"/>
                <a:ea typeface="Inter Light"/>
                <a:cs typeface="Inter Light"/>
                <a:sym typeface="Inter Light"/>
              </a:rPr>
              <a:t>Revue des findings avec le développeur</a:t>
            </a:r>
            <a:endParaRPr b="0" i="0" sz="850" u="none" cap="none" strike="noStrike">
              <a:solidFill>
                <a:schemeClr val="dk1"/>
              </a:solidFill>
              <a:latin typeface="Calibri"/>
              <a:ea typeface="Calibri"/>
              <a:cs typeface="Calibri"/>
              <a:sym typeface="Calibri"/>
            </a:endParaRPr>
          </a:p>
        </p:txBody>
      </p:sp>
      <p:pic>
        <p:nvPicPr>
          <p:cNvPr descr="preencoded.png" id="155" name="Google Shape;155;p7"/>
          <p:cNvPicPr preferRelativeResize="0"/>
          <p:nvPr/>
        </p:nvPicPr>
        <p:blipFill rotWithShape="1">
          <a:blip r:embed="rId9">
            <a:alphaModFix/>
          </a:blip>
          <a:srcRect b="0" l="0" r="0" t="0"/>
          <a:stretch/>
        </p:blipFill>
        <p:spPr>
          <a:xfrm>
            <a:off x="571500" y="3395067"/>
            <a:ext cx="142875" cy="128588"/>
          </a:xfrm>
          <a:prstGeom prst="rect">
            <a:avLst/>
          </a:prstGeom>
          <a:noFill/>
          <a:ln>
            <a:noFill/>
          </a:ln>
        </p:spPr>
      </p:pic>
      <p:sp>
        <p:nvSpPr>
          <p:cNvPr id="156" name="Google Shape;156;p7"/>
          <p:cNvSpPr/>
          <p:nvPr/>
        </p:nvSpPr>
        <p:spPr>
          <a:xfrm>
            <a:off x="821531" y="3366492"/>
            <a:ext cx="2280642" cy="1714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333F58"/>
              </a:buClr>
              <a:buSzPts val="850"/>
              <a:buFont typeface="Inter Light"/>
              <a:buNone/>
            </a:pPr>
            <a:r>
              <a:rPr b="0" i="0" lang="en-US" sz="850" u="none" cap="none" strike="noStrike">
                <a:solidFill>
                  <a:srgbClr val="333F58"/>
                </a:solidFill>
                <a:latin typeface="Inter Light"/>
                <a:ea typeface="Inter Light"/>
                <a:cs typeface="Inter Light"/>
                <a:sym typeface="Inter Light"/>
              </a:rPr>
              <a:t>Explication pédagogique de la vulnérabilité</a:t>
            </a:r>
            <a:endParaRPr b="0" i="0" sz="850" u="none" cap="none" strike="noStrike">
              <a:solidFill>
                <a:schemeClr val="dk1"/>
              </a:solidFill>
              <a:latin typeface="Calibri"/>
              <a:ea typeface="Calibri"/>
              <a:cs typeface="Calibri"/>
              <a:sym typeface="Calibri"/>
            </a:endParaRPr>
          </a:p>
        </p:txBody>
      </p:sp>
      <p:pic>
        <p:nvPicPr>
          <p:cNvPr descr="preencoded.png" id="157" name="Google Shape;157;p7"/>
          <p:cNvPicPr preferRelativeResize="0"/>
          <p:nvPr/>
        </p:nvPicPr>
        <p:blipFill rotWithShape="1">
          <a:blip r:embed="rId10">
            <a:alphaModFix/>
          </a:blip>
          <a:srcRect b="0" l="0" r="0" t="0"/>
          <a:stretch/>
        </p:blipFill>
        <p:spPr>
          <a:xfrm>
            <a:off x="571500" y="3652242"/>
            <a:ext cx="142875" cy="128588"/>
          </a:xfrm>
          <a:prstGeom prst="rect">
            <a:avLst/>
          </a:prstGeom>
          <a:noFill/>
          <a:ln>
            <a:noFill/>
          </a:ln>
        </p:spPr>
      </p:pic>
      <p:sp>
        <p:nvSpPr>
          <p:cNvPr id="158" name="Google Shape;158;p7"/>
          <p:cNvSpPr/>
          <p:nvPr/>
        </p:nvSpPr>
        <p:spPr>
          <a:xfrm>
            <a:off x="821531" y="3623667"/>
            <a:ext cx="3262908" cy="1714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333F58"/>
              </a:buClr>
              <a:buSzPts val="850"/>
              <a:buFont typeface="Inter Light"/>
              <a:buNone/>
            </a:pPr>
            <a:r>
              <a:rPr b="0" i="0" lang="en-US" sz="850" u="none" cap="none" strike="noStrike">
                <a:solidFill>
                  <a:srgbClr val="333F58"/>
                </a:solidFill>
                <a:latin typeface="Inter Light"/>
                <a:ea typeface="Inter Light"/>
                <a:cs typeface="Inter Light"/>
                <a:sym typeface="Inter Light"/>
              </a:rPr>
              <a:t>Qualification des faux positifs (avec justification documentée)</a:t>
            </a:r>
            <a:endParaRPr b="0" i="0" sz="850" u="none" cap="none" strike="noStrike">
              <a:solidFill>
                <a:schemeClr val="dk1"/>
              </a:solidFill>
              <a:latin typeface="Calibri"/>
              <a:ea typeface="Calibri"/>
              <a:cs typeface="Calibri"/>
              <a:sym typeface="Calibri"/>
            </a:endParaRPr>
          </a:p>
        </p:txBody>
      </p:sp>
      <p:pic>
        <p:nvPicPr>
          <p:cNvPr descr="preencoded.png" id="159" name="Google Shape;159;p7"/>
          <p:cNvPicPr preferRelativeResize="0"/>
          <p:nvPr/>
        </p:nvPicPr>
        <p:blipFill rotWithShape="1">
          <a:blip r:embed="rId11">
            <a:alphaModFix/>
          </a:blip>
          <a:srcRect b="0" l="0" r="0" t="0"/>
          <a:stretch/>
        </p:blipFill>
        <p:spPr>
          <a:xfrm>
            <a:off x="571500" y="3909417"/>
            <a:ext cx="142875" cy="128588"/>
          </a:xfrm>
          <a:prstGeom prst="rect">
            <a:avLst/>
          </a:prstGeom>
          <a:noFill/>
          <a:ln>
            <a:noFill/>
          </a:ln>
        </p:spPr>
      </p:pic>
      <p:sp>
        <p:nvSpPr>
          <p:cNvPr id="160" name="Google Shape;160;p7"/>
          <p:cNvSpPr/>
          <p:nvPr/>
        </p:nvSpPr>
        <p:spPr>
          <a:xfrm>
            <a:off x="821531" y="3880842"/>
            <a:ext cx="3025378" cy="1714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333F58"/>
              </a:buClr>
              <a:buSzPts val="850"/>
              <a:buFont typeface="Inter Light"/>
              <a:buNone/>
            </a:pPr>
            <a:r>
              <a:rPr b="0" i="0" lang="en-US" sz="850" u="none" cap="none" strike="noStrike">
                <a:solidFill>
                  <a:srgbClr val="333F58"/>
                </a:solidFill>
                <a:latin typeface="Inter Light"/>
                <a:ea typeface="Inter Light"/>
                <a:cs typeface="Inter Light"/>
                <a:sym typeface="Inter Light"/>
              </a:rPr>
              <a:t>Recommandations de correction avec exemples de code</a:t>
            </a:r>
            <a:endParaRPr b="0" i="0" sz="850" u="none" cap="none" strike="noStrike">
              <a:solidFill>
                <a:schemeClr val="dk1"/>
              </a:solidFill>
              <a:latin typeface="Calibri"/>
              <a:ea typeface="Calibri"/>
              <a:cs typeface="Calibri"/>
              <a:sym typeface="Calibri"/>
            </a:endParaRPr>
          </a:p>
        </p:txBody>
      </p:sp>
      <p:sp>
        <p:nvSpPr>
          <p:cNvPr id="161" name="Google Shape;161;p7"/>
          <p:cNvSpPr/>
          <p:nvPr/>
        </p:nvSpPr>
        <p:spPr>
          <a:xfrm>
            <a:off x="4857750" y="1019770"/>
            <a:ext cx="3714750" cy="17323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A192F"/>
              </a:buClr>
              <a:buSzPts val="1000"/>
              <a:buFont typeface="Inter ExtraBold"/>
              <a:buNone/>
            </a:pPr>
            <a:r>
              <a:rPr b="1" i="0" lang="en-US" sz="1000" u="none" cap="none" strike="noStrike">
                <a:solidFill>
                  <a:srgbClr val="0A192F"/>
                </a:solidFill>
                <a:latin typeface="Inter ExtraBold"/>
                <a:ea typeface="Inter ExtraBold"/>
                <a:cs typeface="Inter ExtraBold"/>
                <a:sym typeface="Inter ExtraBold"/>
              </a:rPr>
              <a:t>LE WORKFLOW DANS LE PIPELINE CI/CD</a:t>
            </a:r>
            <a:endParaRPr b="0" i="0" sz="1000" u="none" cap="none" strike="noStrike">
              <a:solidFill>
                <a:schemeClr val="dk1"/>
              </a:solidFill>
              <a:latin typeface="Calibri"/>
              <a:ea typeface="Calibri"/>
              <a:cs typeface="Calibri"/>
              <a:sym typeface="Calibri"/>
            </a:endParaRPr>
          </a:p>
        </p:txBody>
      </p:sp>
      <p:sp>
        <p:nvSpPr>
          <p:cNvPr id="162" name="Google Shape;162;p7"/>
          <p:cNvSpPr/>
          <p:nvPr/>
        </p:nvSpPr>
        <p:spPr>
          <a:xfrm>
            <a:off x="4857750" y="1307306"/>
            <a:ext cx="285750" cy="285750"/>
          </a:xfrm>
          <a:prstGeom prst="rect">
            <a:avLst/>
          </a:prstGeom>
          <a:solidFill>
            <a:srgbClr val="0A19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7"/>
          <p:cNvSpPr/>
          <p:nvPr/>
        </p:nvSpPr>
        <p:spPr>
          <a:xfrm>
            <a:off x="4857750" y="1307306"/>
            <a:ext cx="285750" cy="28575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Clr>
                <a:srgbClr val="FFFFFF"/>
              </a:buClr>
              <a:buSzPts val="1000"/>
              <a:buFont typeface="Inter ExtraBold"/>
              <a:buNone/>
            </a:pPr>
            <a:r>
              <a:rPr b="1" i="0" lang="en-US" sz="1000" u="none" cap="none" strike="noStrike">
                <a:solidFill>
                  <a:srgbClr val="FFFFFF"/>
                </a:solidFill>
                <a:latin typeface="Inter ExtraBold"/>
                <a:ea typeface="Inter ExtraBold"/>
                <a:cs typeface="Inter ExtraBold"/>
                <a:sym typeface="Inter ExtraBold"/>
              </a:rPr>
              <a:t>1</a:t>
            </a:r>
            <a:endParaRPr b="0" i="0" sz="1000" u="none" cap="none" strike="noStrike">
              <a:solidFill>
                <a:schemeClr val="dk1"/>
              </a:solidFill>
              <a:latin typeface="Calibri"/>
              <a:ea typeface="Calibri"/>
              <a:cs typeface="Calibri"/>
              <a:sym typeface="Calibri"/>
            </a:endParaRPr>
          </a:p>
        </p:txBody>
      </p:sp>
      <p:sp>
        <p:nvSpPr>
          <p:cNvPr id="164" name="Google Shape;164;p7"/>
          <p:cNvSpPr/>
          <p:nvPr/>
        </p:nvSpPr>
        <p:spPr>
          <a:xfrm>
            <a:off x="5286375" y="1307306"/>
            <a:ext cx="3286125" cy="464344"/>
          </a:xfrm>
          <a:prstGeom prst="rect">
            <a:avLst/>
          </a:prstGeom>
          <a:noFill/>
          <a:ln>
            <a:noFill/>
          </a:ln>
        </p:spPr>
        <p:txBody>
          <a:bodyPr anchorCtr="0" anchor="t" bIns="0" lIns="0" spcFirstLastPara="1" rIns="0" wrap="square" tIns="42525">
            <a:spAutoFit/>
          </a:bodyPr>
          <a:lstStyle/>
          <a:p>
            <a:pPr indent="0" lvl="0" marL="0" marR="0" rtl="0" algn="l">
              <a:lnSpc>
                <a:spcPct val="120000"/>
              </a:lnSpc>
              <a:spcBef>
                <a:spcPts val="0"/>
              </a:spcBef>
              <a:spcAft>
                <a:spcPts val="0"/>
              </a:spcAft>
              <a:buClr>
                <a:srgbClr val="333F58"/>
              </a:buClr>
              <a:buSzPts val="1050"/>
              <a:buFont typeface="Inter Light"/>
              <a:buNone/>
            </a:pPr>
            <a:r>
              <a:rPr lang="en-US" sz="1050">
                <a:solidFill>
                  <a:srgbClr val="333F58"/>
                </a:solidFill>
                <a:latin typeface="Inter Light"/>
                <a:ea typeface="Inter Light"/>
                <a:cs typeface="Inter Light"/>
                <a:sym typeface="Inter Light"/>
              </a:rPr>
              <a:t>À </a:t>
            </a:r>
            <a:r>
              <a:rPr b="1" lang="en-US" sz="1050">
                <a:solidFill>
                  <a:srgbClr val="333F58"/>
                </a:solidFill>
                <a:latin typeface="Inter"/>
                <a:ea typeface="Inter"/>
                <a:cs typeface="Inter"/>
                <a:sym typeface="Inter"/>
              </a:rPr>
              <a:t>chaque exécution </a:t>
            </a:r>
            <a:r>
              <a:rPr lang="en-US" sz="1050">
                <a:solidFill>
                  <a:srgbClr val="333F58"/>
                </a:solidFill>
                <a:latin typeface="Inter Light"/>
                <a:ea typeface="Inter Light"/>
                <a:cs typeface="Inter Light"/>
                <a:sym typeface="Inter Light"/>
              </a:rPr>
              <a:t>du pipeline (Job CI), SonarQube analyse le code source. </a:t>
            </a:r>
            <a:endParaRPr b="0" i="0" sz="1050" u="none" cap="none" strike="noStrike">
              <a:solidFill>
                <a:schemeClr val="dk1"/>
              </a:solidFill>
              <a:latin typeface="Calibri"/>
              <a:ea typeface="Calibri"/>
              <a:cs typeface="Calibri"/>
              <a:sym typeface="Calibri"/>
            </a:endParaRPr>
          </a:p>
        </p:txBody>
      </p:sp>
      <p:sp>
        <p:nvSpPr>
          <p:cNvPr id="165" name="Google Shape;165;p7"/>
          <p:cNvSpPr/>
          <p:nvPr/>
        </p:nvSpPr>
        <p:spPr>
          <a:xfrm>
            <a:off x="4857750" y="1914525"/>
            <a:ext cx="285750" cy="285750"/>
          </a:xfrm>
          <a:prstGeom prst="rect">
            <a:avLst/>
          </a:prstGeom>
          <a:solidFill>
            <a:srgbClr val="0A19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7"/>
          <p:cNvSpPr/>
          <p:nvPr/>
        </p:nvSpPr>
        <p:spPr>
          <a:xfrm>
            <a:off x="4857750" y="1914525"/>
            <a:ext cx="285750" cy="28575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Clr>
                <a:srgbClr val="FFFFFF"/>
              </a:buClr>
              <a:buSzPts val="1000"/>
              <a:buFont typeface="Inter ExtraBold"/>
              <a:buNone/>
            </a:pPr>
            <a:r>
              <a:rPr b="1" i="0" lang="en-US" sz="1000" u="none" cap="none" strike="noStrike">
                <a:solidFill>
                  <a:srgbClr val="FFFFFF"/>
                </a:solidFill>
                <a:latin typeface="Inter ExtraBold"/>
                <a:ea typeface="Inter ExtraBold"/>
                <a:cs typeface="Inter ExtraBold"/>
                <a:sym typeface="Inter ExtraBold"/>
              </a:rPr>
              <a:t>2</a:t>
            </a:r>
            <a:endParaRPr b="0" i="0" sz="1000" u="none" cap="none" strike="noStrike">
              <a:solidFill>
                <a:schemeClr val="dk1"/>
              </a:solidFill>
              <a:latin typeface="Calibri"/>
              <a:ea typeface="Calibri"/>
              <a:cs typeface="Calibri"/>
              <a:sym typeface="Calibri"/>
            </a:endParaRPr>
          </a:p>
        </p:txBody>
      </p:sp>
      <p:sp>
        <p:nvSpPr>
          <p:cNvPr id="167" name="Google Shape;167;p7"/>
          <p:cNvSpPr/>
          <p:nvPr/>
        </p:nvSpPr>
        <p:spPr>
          <a:xfrm>
            <a:off x="5286375" y="1914525"/>
            <a:ext cx="3286125" cy="464344"/>
          </a:xfrm>
          <a:prstGeom prst="rect">
            <a:avLst/>
          </a:prstGeom>
          <a:noFill/>
          <a:ln>
            <a:noFill/>
          </a:ln>
        </p:spPr>
        <p:txBody>
          <a:bodyPr anchorCtr="0" anchor="t" bIns="0" lIns="0" spcFirstLastPara="1" rIns="0" wrap="square" tIns="42525">
            <a:spAutoFit/>
          </a:bodyPr>
          <a:lstStyle/>
          <a:p>
            <a:pPr indent="0" lvl="0" marL="0" marR="0" rtl="0" algn="l">
              <a:lnSpc>
                <a:spcPct val="120000"/>
              </a:lnSpc>
              <a:spcBef>
                <a:spcPts val="0"/>
              </a:spcBef>
              <a:spcAft>
                <a:spcPts val="0"/>
              </a:spcAft>
              <a:buClr>
                <a:srgbClr val="333F58"/>
              </a:buClr>
              <a:buSzPts val="1050"/>
              <a:buFont typeface="Inter Light"/>
              <a:buNone/>
            </a:pPr>
            <a:r>
              <a:rPr b="0" i="0" lang="en-US" sz="1050" u="none" cap="none" strike="noStrike">
                <a:solidFill>
                  <a:srgbClr val="333F58"/>
                </a:solidFill>
                <a:latin typeface="Inter Light"/>
                <a:ea typeface="Inter Light"/>
                <a:cs typeface="Inter Light"/>
                <a:sym typeface="Inter Light"/>
              </a:rPr>
              <a:t>Les résultats sont catégorisés : </a:t>
            </a:r>
            <a:r>
              <a:rPr b="1" i="0" lang="en-US" sz="1000" u="none" cap="none" strike="noStrike">
                <a:solidFill>
                  <a:srgbClr val="0A192F"/>
                </a:solidFill>
                <a:latin typeface="Inter ExtraBold"/>
                <a:ea typeface="Inter ExtraBold"/>
                <a:cs typeface="Inter ExtraBold"/>
                <a:sym typeface="Inter ExtraBold"/>
              </a:rPr>
              <a:t>Blocker, Critical, Major, Minor</a:t>
            </a:r>
            <a:r>
              <a:rPr b="0" i="0" lang="en-US" sz="1050" u="none" cap="none" strike="noStrike">
                <a:solidFill>
                  <a:srgbClr val="333F58"/>
                </a:solidFill>
                <a:latin typeface="Inter Light"/>
                <a:ea typeface="Inter Light"/>
                <a:cs typeface="Inter Light"/>
                <a:sym typeface="Inter Light"/>
              </a:rPr>
              <a:t>.</a:t>
            </a:r>
            <a:endParaRPr b="0" i="0" sz="1050" u="none" cap="none" strike="noStrike">
              <a:solidFill>
                <a:schemeClr val="dk1"/>
              </a:solidFill>
              <a:latin typeface="Calibri"/>
              <a:ea typeface="Calibri"/>
              <a:cs typeface="Calibri"/>
              <a:sym typeface="Calibri"/>
            </a:endParaRPr>
          </a:p>
        </p:txBody>
      </p:sp>
      <p:sp>
        <p:nvSpPr>
          <p:cNvPr id="168" name="Google Shape;168;p7"/>
          <p:cNvSpPr/>
          <p:nvPr/>
        </p:nvSpPr>
        <p:spPr>
          <a:xfrm>
            <a:off x="4857750" y="2521744"/>
            <a:ext cx="285750" cy="285750"/>
          </a:xfrm>
          <a:prstGeom prst="rect">
            <a:avLst/>
          </a:prstGeom>
          <a:solidFill>
            <a:srgbClr val="0A19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7"/>
          <p:cNvSpPr/>
          <p:nvPr/>
        </p:nvSpPr>
        <p:spPr>
          <a:xfrm>
            <a:off x="4857750" y="2521744"/>
            <a:ext cx="285750" cy="28575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Clr>
                <a:srgbClr val="FFFFFF"/>
              </a:buClr>
              <a:buSzPts val="1000"/>
              <a:buFont typeface="Inter ExtraBold"/>
              <a:buNone/>
            </a:pPr>
            <a:r>
              <a:rPr b="1" i="0" lang="en-US" sz="1000" u="none" cap="none" strike="noStrike">
                <a:solidFill>
                  <a:srgbClr val="FFFFFF"/>
                </a:solidFill>
                <a:latin typeface="Inter ExtraBold"/>
                <a:ea typeface="Inter ExtraBold"/>
                <a:cs typeface="Inter ExtraBold"/>
                <a:sym typeface="Inter ExtraBold"/>
              </a:rPr>
              <a:t>3</a:t>
            </a:r>
            <a:endParaRPr b="0" i="0" sz="1000" u="none" cap="none" strike="noStrike">
              <a:solidFill>
                <a:schemeClr val="dk1"/>
              </a:solidFill>
              <a:latin typeface="Calibri"/>
              <a:ea typeface="Calibri"/>
              <a:cs typeface="Calibri"/>
              <a:sym typeface="Calibri"/>
            </a:endParaRPr>
          </a:p>
        </p:txBody>
      </p:sp>
      <p:sp>
        <p:nvSpPr>
          <p:cNvPr id="170" name="Google Shape;170;p7"/>
          <p:cNvSpPr/>
          <p:nvPr/>
        </p:nvSpPr>
        <p:spPr>
          <a:xfrm>
            <a:off x="5286375" y="2521744"/>
            <a:ext cx="3286125" cy="464344"/>
          </a:xfrm>
          <a:prstGeom prst="rect">
            <a:avLst/>
          </a:prstGeom>
          <a:noFill/>
          <a:ln>
            <a:noFill/>
          </a:ln>
        </p:spPr>
        <p:txBody>
          <a:bodyPr anchorCtr="0" anchor="t" bIns="0" lIns="0" spcFirstLastPara="1" rIns="0" wrap="square" tIns="42525">
            <a:spAutoFit/>
          </a:bodyPr>
          <a:lstStyle/>
          <a:p>
            <a:pPr indent="0" lvl="0" marL="0" marR="0" rtl="0" algn="l">
              <a:lnSpc>
                <a:spcPct val="120000"/>
              </a:lnSpc>
              <a:spcBef>
                <a:spcPts val="0"/>
              </a:spcBef>
              <a:spcAft>
                <a:spcPts val="0"/>
              </a:spcAft>
              <a:buClr>
                <a:srgbClr val="333F58"/>
              </a:buClr>
              <a:buSzPts val="1050"/>
              <a:buFont typeface="Inter Light"/>
              <a:buNone/>
            </a:pPr>
            <a:r>
              <a:rPr b="0" i="0" lang="en-US" sz="1050" u="none" cap="none" strike="noStrike">
                <a:solidFill>
                  <a:srgbClr val="333F58"/>
                </a:solidFill>
                <a:latin typeface="Inter Light"/>
                <a:ea typeface="Inter Light"/>
                <a:cs typeface="Inter Light"/>
                <a:sym typeface="Inter Light"/>
              </a:rPr>
              <a:t>La </a:t>
            </a:r>
            <a:r>
              <a:rPr b="1" i="0" lang="en-US" sz="1000" u="none" cap="none" strike="noStrike">
                <a:solidFill>
                  <a:srgbClr val="0A192F"/>
                </a:solidFill>
                <a:latin typeface="Inter ExtraBold"/>
                <a:ea typeface="Inter ExtraBold"/>
                <a:cs typeface="Inter ExtraBold"/>
                <a:sym typeface="Inter ExtraBold"/>
              </a:rPr>
              <a:t>Quality Gate de sécurité</a:t>
            </a:r>
            <a:r>
              <a:rPr b="0" i="0" lang="en-US" sz="1050" u="none" cap="none" strike="noStrike">
                <a:solidFill>
                  <a:srgbClr val="333F58"/>
                </a:solidFill>
                <a:latin typeface="Inter Light"/>
                <a:ea typeface="Inter Light"/>
                <a:cs typeface="Inter Light"/>
                <a:sym typeface="Inter Light"/>
              </a:rPr>
              <a:t> bloque si des issues Blocker/Critical sont présentes.</a:t>
            </a:r>
            <a:endParaRPr b="0" i="0" sz="1050" u="none" cap="none" strike="noStrike">
              <a:solidFill>
                <a:schemeClr val="dk1"/>
              </a:solidFill>
              <a:latin typeface="Calibri"/>
              <a:ea typeface="Calibri"/>
              <a:cs typeface="Calibri"/>
              <a:sym typeface="Calibri"/>
            </a:endParaRPr>
          </a:p>
        </p:txBody>
      </p:sp>
      <p:sp>
        <p:nvSpPr>
          <p:cNvPr id="171" name="Google Shape;171;p7"/>
          <p:cNvSpPr/>
          <p:nvPr/>
        </p:nvSpPr>
        <p:spPr>
          <a:xfrm>
            <a:off x="4857750" y="3128963"/>
            <a:ext cx="285750" cy="285750"/>
          </a:xfrm>
          <a:prstGeom prst="rect">
            <a:avLst/>
          </a:prstGeom>
          <a:solidFill>
            <a:srgbClr val="0A19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7"/>
          <p:cNvSpPr/>
          <p:nvPr/>
        </p:nvSpPr>
        <p:spPr>
          <a:xfrm>
            <a:off x="4857750" y="3128963"/>
            <a:ext cx="285750" cy="28575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Clr>
                <a:srgbClr val="FFFFFF"/>
              </a:buClr>
              <a:buSzPts val="1000"/>
              <a:buFont typeface="Inter ExtraBold"/>
              <a:buNone/>
            </a:pPr>
            <a:r>
              <a:rPr b="1" i="0" lang="en-US" sz="1000" u="none" cap="none" strike="noStrike">
                <a:solidFill>
                  <a:srgbClr val="FFFFFF"/>
                </a:solidFill>
                <a:latin typeface="Inter ExtraBold"/>
                <a:ea typeface="Inter ExtraBold"/>
                <a:cs typeface="Inter ExtraBold"/>
                <a:sym typeface="Inter ExtraBold"/>
              </a:rPr>
              <a:t>4</a:t>
            </a:r>
            <a:endParaRPr b="0" i="0" sz="1000" u="none" cap="none" strike="noStrike">
              <a:solidFill>
                <a:schemeClr val="dk1"/>
              </a:solidFill>
              <a:latin typeface="Calibri"/>
              <a:ea typeface="Calibri"/>
              <a:cs typeface="Calibri"/>
              <a:sym typeface="Calibri"/>
            </a:endParaRPr>
          </a:p>
        </p:txBody>
      </p:sp>
      <p:sp>
        <p:nvSpPr>
          <p:cNvPr id="173" name="Google Shape;173;p7"/>
          <p:cNvSpPr/>
          <p:nvPr/>
        </p:nvSpPr>
        <p:spPr>
          <a:xfrm>
            <a:off x="5286375" y="3128963"/>
            <a:ext cx="3286125" cy="464344"/>
          </a:xfrm>
          <a:prstGeom prst="rect">
            <a:avLst/>
          </a:prstGeom>
          <a:noFill/>
          <a:ln>
            <a:noFill/>
          </a:ln>
        </p:spPr>
        <p:txBody>
          <a:bodyPr anchorCtr="0" anchor="t" bIns="0" lIns="0" spcFirstLastPara="1" rIns="0" wrap="square" tIns="42525">
            <a:spAutoFit/>
          </a:bodyPr>
          <a:lstStyle/>
          <a:p>
            <a:pPr indent="0" lvl="0" marL="0" marR="0" rtl="0" algn="l">
              <a:lnSpc>
                <a:spcPct val="120000"/>
              </a:lnSpc>
              <a:spcBef>
                <a:spcPts val="0"/>
              </a:spcBef>
              <a:spcAft>
                <a:spcPts val="0"/>
              </a:spcAft>
              <a:buClr>
                <a:srgbClr val="333F58"/>
              </a:buClr>
              <a:buSzPts val="1050"/>
              <a:buFont typeface="Inter Light"/>
              <a:buNone/>
            </a:pPr>
            <a:r>
              <a:rPr lang="en-US" sz="1050">
                <a:solidFill>
                  <a:srgbClr val="333F58"/>
                </a:solidFill>
                <a:latin typeface="Inter Light"/>
                <a:ea typeface="Inter Light"/>
                <a:cs typeface="Inter Light"/>
                <a:sym typeface="Inter Light"/>
              </a:rPr>
              <a:t>Le développeur accède au rapport pour localiser la faille exacte et comprendre le correctif nécessaire. </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descr="preencoded.png" id="179" name="Google Shape;179;p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80" name="Google Shape;180;p8"/>
          <p:cNvSpPr/>
          <p:nvPr/>
        </p:nvSpPr>
        <p:spPr>
          <a:xfrm>
            <a:off x="0" y="0"/>
            <a:ext cx="9144000" cy="805458"/>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8"/>
          <p:cNvSpPr/>
          <p:nvPr/>
        </p:nvSpPr>
        <p:spPr>
          <a:xfrm>
            <a:off x="0" y="776883"/>
            <a:ext cx="9144000" cy="28575"/>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8"/>
          <p:cNvSpPr/>
          <p:nvPr/>
        </p:nvSpPr>
        <p:spPr>
          <a:xfrm>
            <a:off x="571500" y="357188"/>
            <a:ext cx="8001000" cy="2768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A192F"/>
              </a:buClr>
              <a:buSzPts val="1600"/>
              <a:buFont typeface="Inter ExtraBold"/>
              <a:buNone/>
            </a:pPr>
            <a:r>
              <a:rPr b="1" i="0" lang="en-US" sz="1600" u="none" cap="none" strike="noStrike">
                <a:solidFill>
                  <a:srgbClr val="0A192F"/>
                </a:solidFill>
                <a:latin typeface="Inter ExtraBold"/>
                <a:ea typeface="Inter ExtraBold"/>
                <a:cs typeface="Inter ExtraBold"/>
                <a:sym typeface="Inter ExtraBold"/>
              </a:rPr>
              <a:t>Audit Manuel : Checklists Code &amp; Architecture Applicative</a:t>
            </a:r>
            <a:endParaRPr b="0" i="0" sz="1600" u="none" cap="none" strike="noStrike">
              <a:solidFill>
                <a:schemeClr val="dk1"/>
              </a:solidFill>
              <a:latin typeface="Calibri"/>
              <a:ea typeface="Calibri"/>
              <a:cs typeface="Calibri"/>
              <a:sym typeface="Calibri"/>
            </a:endParaRPr>
          </a:p>
        </p:txBody>
      </p:sp>
      <p:sp>
        <p:nvSpPr>
          <p:cNvPr id="183" name="Google Shape;183;p8"/>
          <p:cNvSpPr/>
          <p:nvPr/>
        </p:nvSpPr>
        <p:spPr>
          <a:xfrm>
            <a:off x="571500" y="1234083"/>
            <a:ext cx="3786188" cy="20716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A192F"/>
              </a:buClr>
              <a:buSzPts val="1200"/>
              <a:buFont typeface="Inter ExtraBold"/>
              <a:buNone/>
            </a:pPr>
            <a:r>
              <a:rPr b="1" i="0" lang="en-US" sz="1200" u="none" cap="none" strike="noStrike">
                <a:solidFill>
                  <a:srgbClr val="0A192F"/>
                </a:solidFill>
                <a:latin typeface="Inter ExtraBold"/>
                <a:ea typeface="Inter ExtraBold"/>
                <a:cs typeface="Inter ExtraBold"/>
                <a:sym typeface="Inter ExtraBold"/>
              </a:rPr>
              <a:t>CHECKLIST ARCHITECTURE</a:t>
            </a:r>
            <a:endParaRPr b="0" i="0" sz="1200" u="none" cap="none" strike="noStrike">
              <a:solidFill>
                <a:schemeClr val="dk1"/>
              </a:solidFill>
              <a:latin typeface="Calibri"/>
              <a:ea typeface="Calibri"/>
              <a:cs typeface="Calibri"/>
              <a:sym typeface="Calibri"/>
            </a:endParaRPr>
          </a:p>
        </p:txBody>
      </p:sp>
      <p:pic>
        <p:nvPicPr>
          <p:cNvPr descr="preencoded.png" id="184" name="Google Shape;184;p8"/>
          <p:cNvPicPr preferRelativeResize="0"/>
          <p:nvPr/>
        </p:nvPicPr>
        <p:blipFill rotWithShape="1">
          <a:blip r:embed="rId4">
            <a:alphaModFix/>
          </a:blip>
          <a:srcRect b="0" l="0" r="0" t="0"/>
          <a:stretch/>
        </p:blipFill>
        <p:spPr>
          <a:xfrm>
            <a:off x="571500" y="1642170"/>
            <a:ext cx="160734" cy="128588"/>
          </a:xfrm>
          <a:prstGeom prst="rect">
            <a:avLst/>
          </a:prstGeom>
          <a:noFill/>
          <a:ln>
            <a:noFill/>
          </a:ln>
        </p:spPr>
      </p:pic>
      <p:sp>
        <p:nvSpPr>
          <p:cNvPr id="185" name="Google Shape;185;p8"/>
          <p:cNvSpPr/>
          <p:nvPr/>
        </p:nvSpPr>
        <p:spPr>
          <a:xfrm>
            <a:off x="817937" y="1619850"/>
            <a:ext cx="35058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B4D8"/>
              </a:buClr>
              <a:buSzPts val="1000"/>
              <a:buFont typeface="Inter ExtraBold"/>
              <a:buNone/>
            </a:pPr>
            <a:r>
              <a:rPr b="1" lang="en-US" sz="1000">
                <a:solidFill>
                  <a:srgbClr val="00B4D8"/>
                </a:solidFill>
                <a:latin typeface="Inter ExtraBold"/>
                <a:ea typeface="Inter ExtraBold"/>
                <a:cs typeface="Inter ExtraBold"/>
                <a:sym typeface="Inter ExtraBold"/>
              </a:rPr>
              <a:t>Contrôle d'Accès (BOLA/IDOR) &amp; Pre-authorization </a:t>
            </a:r>
            <a:endParaRPr b="0" i="0" sz="1000" u="none" cap="none" strike="noStrike">
              <a:solidFill>
                <a:schemeClr val="dk1"/>
              </a:solidFill>
              <a:latin typeface="Calibri"/>
              <a:ea typeface="Calibri"/>
              <a:cs typeface="Calibri"/>
              <a:sym typeface="Calibri"/>
            </a:endParaRPr>
          </a:p>
        </p:txBody>
      </p:sp>
      <p:sp>
        <p:nvSpPr>
          <p:cNvPr id="186" name="Google Shape;186;p8"/>
          <p:cNvSpPr/>
          <p:nvPr/>
        </p:nvSpPr>
        <p:spPr>
          <a:xfrm>
            <a:off x="571500" y="1850231"/>
            <a:ext cx="3786188" cy="385763"/>
          </a:xfrm>
          <a:prstGeom prst="rect">
            <a:avLst/>
          </a:prstGeom>
          <a:noFill/>
          <a:ln>
            <a:noFill/>
          </a:ln>
        </p:spPr>
        <p:txBody>
          <a:bodyPr anchorCtr="0" anchor="t" bIns="0" lIns="255125" spcFirstLastPara="1" rIns="0" wrap="square" tIns="0">
            <a:spAutoFit/>
          </a:bodyPr>
          <a:lstStyle/>
          <a:p>
            <a:pPr indent="0" lvl="0" marL="0" marR="0" rtl="0" algn="l">
              <a:lnSpc>
                <a:spcPct val="120000"/>
              </a:lnSpc>
              <a:spcBef>
                <a:spcPts val="0"/>
              </a:spcBef>
              <a:spcAft>
                <a:spcPts val="0"/>
              </a:spcAft>
              <a:buClr>
                <a:srgbClr val="333F58"/>
              </a:buClr>
              <a:buSzPts val="950"/>
              <a:buFont typeface="Inter Light"/>
              <a:buNone/>
            </a:pPr>
            <a:r>
              <a:rPr lang="en-US" sz="950">
                <a:solidFill>
                  <a:srgbClr val="333F58"/>
                </a:solidFill>
                <a:latin typeface="Inter Light"/>
                <a:ea typeface="Inter Light"/>
                <a:cs typeface="Inter Light"/>
                <a:sym typeface="Inter Light"/>
              </a:rPr>
              <a:t>un utilisateur ne doit pas pouvoir accéder aux données d'un tiers en modifiant un ID dans l’URL (prévention des Insecure Direct Object Reference). </a:t>
            </a:r>
            <a:endParaRPr sz="950">
              <a:solidFill>
                <a:srgbClr val="333F58"/>
              </a:solidFill>
              <a:latin typeface="Inter Light"/>
              <a:ea typeface="Inter Light"/>
              <a:cs typeface="Inter Light"/>
              <a:sym typeface="Inter Light"/>
            </a:endParaRPr>
          </a:p>
          <a:p>
            <a:pPr indent="0" lvl="0" marL="0" marR="0" rtl="0" algn="l">
              <a:lnSpc>
                <a:spcPct val="120000"/>
              </a:lnSpc>
              <a:spcBef>
                <a:spcPts val="0"/>
              </a:spcBef>
              <a:spcAft>
                <a:spcPts val="0"/>
              </a:spcAft>
              <a:buClr>
                <a:srgbClr val="333F58"/>
              </a:buClr>
              <a:buSzPts val="950"/>
              <a:buFont typeface="Inter Light"/>
              <a:buNone/>
            </a:pPr>
            <a:r>
              <a:t/>
            </a:r>
            <a:endParaRPr sz="950">
              <a:solidFill>
                <a:srgbClr val="333F58"/>
              </a:solidFill>
              <a:latin typeface="Inter Light"/>
              <a:ea typeface="Inter Light"/>
              <a:cs typeface="Inter Light"/>
              <a:sym typeface="Inter Light"/>
            </a:endParaRPr>
          </a:p>
        </p:txBody>
      </p:sp>
      <p:pic>
        <p:nvPicPr>
          <p:cNvPr descr="preencoded.png" id="187" name="Google Shape;187;p8"/>
          <p:cNvPicPr preferRelativeResize="0"/>
          <p:nvPr/>
        </p:nvPicPr>
        <p:blipFill rotWithShape="1">
          <a:blip r:embed="rId5">
            <a:alphaModFix/>
          </a:blip>
          <a:srcRect b="0" l="0" r="0" t="0"/>
          <a:stretch/>
        </p:blipFill>
        <p:spPr>
          <a:xfrm>
            <a:off x="571500" y="2436912"/>
            <a:ext cx="144661" cy="128588"/>
          </a:xfrm>
          <a:prstGeom prst="rect">
            <a:avLst/>
          </a:prstGeom>
          <a:noFill/>
          <a:ln>
            <a:noFill/>
          </a:ln>
        </p:spPr>
      </p:pic>
      <p:sp>
        <p:nvSpPr>
          <p:cNvPr id="188" name="Google Shape;188;p8"/>
          <p:cNvSpPr/>
          <p:nvPr/>
        </p:nvSpPr>
        <p:spPr>
          <a:xfrm>
            <a:off x="801886" y="2414588"/>
            <a:ext cx="1419820" cy="17323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B4D8"/>
              </a:buClr>
              <a:buSzPts val="1000"/>
              <a:buFont typeface="Inter ExtraBold"/>
              <a:buNone/>
            </a:pPr>
            <a:r>
              <a:rPr b="1" i="0" lang="en-US" sz="1000" u="none" cap="none" strike="noStrike">
                <a:solidFill>
                  <a:srgbClr val="00B4D8"/>
                </a:solidFill>
                <a:latin typeface="Inter ExtraBold"/>
                <a:ea typeface="Inter ExtraBold"/>
                <a:cs typeface="Inter ExtraBold"/>
                <a:sym typeface="Inter ExtraBold"/>
              </a:rPr>
              <a:t>Gestion des Secrets</a:t>
            </a:r>
            <a:endParaRPr b="0" i="0" sz="1000" u="none" cap="none" strike="noStrike">
              <a:solidFill>
                <a:schemeClr val="dk1"/>
              </a:solidFill>
              <a:latin typeface="Calibri"/>
              <a:ea typeface="Calibri"/>
              <a:cs typeface="Calibri"/>
              <a:sym typeface="Calibri"/>
            </a:endParaRPr>
          </a:p>
        </p:txBody>
      </p:sp>
      <p:sp>
        <p:nvSpPr>
          <p:cNvPr id="189" name="Google Shape;189;p8"/>
          <p:cNvSpPr/>
          <p:nvPr/>
        </p:nvSpPr>
        <p:spPr>
          <a:xfrm>
            <a:off x="571500" y="2644973"/>
            <a:ext cx="3786188" cy="385763"/>
          </a:xfrm>
          <a:prstGeom prst="rect">
            <a:avLst/>
          </a:prstGeom>
          <a:noFill/>
          <a:ln>
            <a:noFill/>
          </a:ln>
        </p:spPr>
        <p:txBody>
          <a:bodyPr anchorCtr="0" anchor="t" bIns="0" lIns="255125" spcFirstLastPara="1" rIns="0" wrap="square" tIns="0">
            <a:spAutoFit/>
          </a:bodyPr>
          <a:lstStyle/>
          <a:p>
            <a:pPr indent="0" lvl="0" marL="0" marR="0" rtl="0" algn="l">
              <a:lnSpc>
                <a:spcPct val="120000"/>
              </a:lnSpc>
              <a:spcBef>
                <a:spcPts val="0"/>
              </a:spcBef>
              <a:spcAft>
                <a:spcPts val="0"/>
              </a:spcAft>
              <a:buClr>
                <a:srgbClr val="333F58"/>
              </a:buClr>
              <a:buSzPts val="950"/>
              <a:buFont typeface="Inter Light"/>
              <a:buNone/>
            </a:pPr>
            <a:r>
              <a:rPr b="0" i="0" lang="en-US" sz="950" u="none" cap="none" strike="noStrike">
                <a:solidFill>
                  <a:srgbClr val="333F58"/>
                </a:solidFill>
                <a:latin typeface="Inter Light"/>
                <a:ea typeface="Inter Light"/>
                <a:cs typeface="Inter Light"/>
                <a:sym typeface="Inter Light"/>
              </a:rPr>
              <a:t>Absence de secrets en clair, utilisation systématique du </a:t>
            </a:r>
            <a:r>
              <a:rPr b="1" i="0" lang="en-US" sz="900" u="none" cap="none" strike="noStrike">
                <a:solidFill>
                  <a:srgbClr val="0A192F"/>
                </a:solidFill>
                <a:latin typeface="Inter ExtraBold"/>
                <a:ea typeface="Inter ExtraBold"/>
                <a:cs typeface="Inter ExtraBold"/>
                <a:sym typeface="Inter ExtraBold"/>
              </a:rPr>
              <a:t>Vault bancaire</a:t>
            </a:r>
            <a:r>
              <a:rPr b="0" i="0" lang="en-US" sz="950" u="none" cap="none" strike="noStrike">
                <a:solidFill>
                  <a:srgbClr val="333F58"/>
                </a:solidFill>
                <a:latin typeface="Inter Light"/>
                <a:ea typeface="Inter Light"/>
                <a:cs typeface="Inter Light"/>
                <a:sym typeface="Inter Light"/>
              </a:rPr>
              <a:t>.</a:t>
            </a:r>
            <a:endParaRPr b="0" i="0" sz="950" u="none" cap="none" strike="noStrike">
              <a:solidFill>
                <a:schemeClr val="dk1"/>
              </a:solidFill>
              <a:latin typeface="Calibri"/>
              <a:ea typeface="Calibri"/>
              <a:cs typeface="Calibri"/>
              <a:sym typeface="Calibri"/>
            </a:endParaRPr>
          </a:p>
        </p:txBody>
      </p:sp>
      <p:pic>
        <p:nvPicPr>
          <p:cNvPr descr="preencoded.png" id="190" name="Google Shape;190;p8"/>
          <p:cNvPicPr preferRelativeResize="0"/>
          <p:nvPr/>
        </p:nvPicPr>
        <p:blipFill rotWithShape="1">
          <a:blip r:embed="rId6">
            <a:alphaModFix/>
          </a:blip>
          <a:srcRect b="0" l="0" r="0" t="0"/>
          <a:stretch/>
        </p:blipFill>
        <p:spPr>
          <a:xfrm>
            <a:off x="571500" y="3231654"/>
            <a:ext cx="160734" cy="128588"/>
          </a:xfrm>
          <a:prstGeom prst="rect">
            <a:avLst/>
          </a:prstGeom>
          <a:noFill/>
          <a:ln>
            <a:noFill/>
          </a:ln>
        </p:spPr>
      </p:pic>
      <p:sp>
        <p:nvSpPr>
          <p:cNvPr id="191" name="Google Shape;191;p8"/>
          <p:cNvSpPr/>
          <p:nvPr/>
        </p:nvSpPr>
        <p:spPr>
          <a:xfrm>
            <a:off x="817950" y="3209325"/>
            <a:ext cx="2324400" cy="207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B4D8"/>
              </a:buClr>
              <a:buSzPts val="1000"/>
              <a:buFont typeface="Inter ExtraBold"/>
              <a:buNone/>
            </a:pPr>
            <a:r>
              <a:rPr b="1" i="0" lang="en-US" sz="1000" u="none" cap="none" strike="noStrike">
                <a:solidFill>
                  <a:srgbClr val="00B4D8"/>
                </a:solidFill>
                <a:latin typeface="Inter ExtraBold"/>
                <a:ea typeface="Inter ExtraBold"/>
                <a:cs typeface="Inter ExtraBold"/>
                <a:sym typeface="Inter ExtraBold"/>
              </a:rPr>
              <a:t>Authentification/Authorisation</a:t>
            </a:r>
            <a:endParaRPr b="0" i="0" sz="1000" u="none" cap="none" strike="noStrike">
              <a:solidFill>
                <a:schemeClr val="dk1"/>
              </a:solidFill>
              <a:latin typeface="Calibri"/>
              <a:ea typeface="Calibri"/>
              <a:cs typeface="Calibri"/>
              <a:sym typeface="Calibri"/>
            </a:endParaRPr>
          </a:p>
        </p:txBody>
      </p:sp>
      <p:sp>
        <p:nvSpPr>
          <p:cNvPr id="192" name="Google Shape;192;p8"/>
          <p:cNvSpPr/>
          <p:nvPr/>
        </p:nvSpPr>
        <p:spPr>
          <a:xfrm>
            <a:off x="571500" y="3439716"/>
            <a:ext cx="3786188" cy="385763"/>
          </a:xfrm>
          <a:prstGeom prst="rect">
            <a:avLst/>
          </a:prstGeom>
          <a:noFill/>
          <a:ln>
            <a:noFill/>
          </a:ln>
        </p:spPr>
        <p:txBody>
          <a:bodyPr anchorCtr="0" anchor="t" bIns="0" lIns="255125" spcFirstLastPara="1" rIns="0" wrap="square" tIns="0">
            <a:spAutoFit/>
          </a:bodyPr>
          <a:lstStyle/>
          <a:p>
            <a:pPr indent="0" lvl="0" marL="0" marR="0" rtl="0" algn="l">
              <a:lnSpc>
                <a:spcPct val="120000"/>
              </a:lnSpc>
              <a:spcBef>
                <a:spcPts val="0"/>
              </a:spcBef>
              <a:spcAft>
                <a:spcPts val="0"/>
              </a:spcAft>
              <a:buClr>
                <a:srgbClr val="333F58"/>
              </a:buClr>
              <a:buSzPts val="950"/>
              <a:buFont typeface="Inter Light"/>
              <a:buNone/>
            </a:pPr>
            <a:r>
              <a:rPr b="0" i="0" lang="en-US" sz="950" u="none" cap="none" strike="noStrike">
                <a:solidFill>
                  <a:srgbClr val="333F58"/>
                </a:solidFill>
                <a:latin typeface="Inter Light"/>
                <a:ea typeface="Inter Light"/>
                <a:cs typeface="Inter Light"/>
                <a:sym typeface="Inter Light"/>
              </a:rPr>
              <a:t>Implémentation OIDC/OAuth2, gestion fine des habilitations (RBAC/ABAC/R</a:t>
            </a:r>
            <a:r>
              <a:rPr lang="en-US" sz="950">
                <a:solidFill>
                  <a:srgbClr val="333F58"/>
                </a:solidFill>
                <a:latin typeface="Inter Light"/>
                <a:ea typeface="Inter Light"/>
                <a:cs typeface="Inter Light"/>
                <a:sym typeface="Inter Light"/>
              </a:rPr>
              <a:t>e</a:t>
            </a:r>
            <a:r>
              <a:rPr b="0" i="0" lang="en-US" sz="950" u="none" cap="none" strike="noStrike">
                <a:solidFill>
                  <a:srgbClr val="333F58"/>
                </a:solidFill>
                <a:latin typeface="Inter Light"/>
                <a:ea typeface="Inter Light"/>
                <a:cs typeface="Inter Light"/>
                <a:sym typeface="Inter Light"/>
              </a:rPr>
              <a:t>BAC).</a:t>
            </a:r>
            <a:endParaRPr b="0" i="0" sz="950" u="none" cap="none" strike="noStrike">
              <a:solidFill>
                <a:schemeClr val="dk1"/>
              </a:solidFill>
              <a:latin typeface="Calibri"/>
              <a:ea typeface="Calibri"/>
              <a:cs typeface="Calibri"/>
              <a:sym typeface="Calibri"/>
            </a:endParaRPr>
          </a:p>
        </p:txBody>
      </p:sp>
      <p:sp>
        <p:nvSpPr>
          <p:cNvPr id="193" name="Google Shape;193;p8"/>
          <p:cNvSpPr/>
          <p:nvPr/>
        </p:nvSpPr>
        <p:spPr>
          <a:xfrm>
            <a:off x="4786313" y="1234083"/>
            <a:ext cx="3786188" cy="20716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A192F"/>
              </a:buClr>
              <a:buSzPts val="1200"/>
              <a:buFont typeface="Inter ExtraBold"/>
              <a:buNone/>
            </a:pPr>
            <a:r>
              <a:rPr b="1" i="0" lang="en-US" sz="1200" u="none" cap="none" strike="noStrike">
                <a:solidFill>
                  <a:srgbClr val="0A192F"/>
                </a:solidFill>
                <a:latin typeface="Inter ExtraBold"/>
                <a:ea typeface="Inter ExtraBold"/>
                <a:cs typeface="Inter ExtraBold"/>
                <a:sym typeface="Inter ExtraBold"/>
              </a:rPr>
              <a:t>CHECKLIST REVUE DE CODE</a:t>
            </a:r>
            <a:endParaRPr b="0" i="0" sz="1200" u="none" cap="none" strike="noStrike">
              <a:solidFill>
                <a:schemeClr val="dk1"/>
              </a:solidFill>
              <a:latin typeface="Calibri"/>
              <a:ea typeface="Calibri"/>
              <a:cs typeface="Calibri"/>
              <a:sym typeface="Calibri"/>
            </a:endParaRPr>
          </a:p>
        </p:txBody>
      </p:sp>
      <p:pic>
        <p:nvPicPr>
          <p:cNvPr descr="preencoded.png" id="194" name="Google Shape;194;p8"/>
          <p:cNvPicPr preferRelativeResize="0"/>
          <p:nvPr/>
        </p:nvPicPr>
        <p:blipFill rotWithShape="1">
          <a:blip r:embed="rId7">
            <a:alphaModFix/>
          </a:blip>
          <a:srcRect b="0" l="0" r="0" t="0"/>
          <a:stretch/>
        </p:blipFill>
        <p:spPr>
          <a:xfrm>
            <a:off x="4786313" y="1642170"/>
            <a:ext cx="128588" cy="128588"/>
          </a:xfrm>
          <a:prstGeom prst="rect">
            <a:avLst/>
          </a:prstGeom>
          <a:noFill/>
          <a:ln>
            <a:noFill/>
          </a:ln>
        </p:spPr>
      </p:pic>
      <p:sp>
        <p:nvSpPr>
          <p:cNvPr id="195" name="Google Shape;195;p8"/>
          <p:cNvSpPr/>
          <p:nvPr/>
        </p:nvSpPr>
        <p:spPr>
          <a:xfrm>
            <a:off x="5000625" y="1619845"/>
            <a:ext cx="1114425" cy="17323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B4D8"/>
              </a:buClr>
              <a:buSzPts val="1000"/>
              <a:buFont typeface="Inter ExtraBold"/>
              <a:buNone/>
            </a:pPr>
            <a:r>
              <a:rPr b="1" i="0" lang="en-US" sz="1000" u="none" cap="none" strike="noStrike">
                <a:solidFill>
                  <a:srgbClr val="00B4D8"/>
                </a:solidFill>
                <a:latin typeface="Inter ExtraBold"/>
                <a:ea typeface="Inter ExtraBold"/>
                <a:cs typeface="Inter ExtraBold"/>
                <a:sym typeface="Inter ExtraBold"/>
              </a:rPr>
              <a:t>Entrées/Sorties</a:t>
            </a:r>
            <a:endParaRPr b="0" i="0" sz="1000" u="none" cap="none" strike="noStrike">
              <a:solidFill>
                <a:schemeClr val="dk1"/>
              </a:solidFill>
              <a:latin typeface="Calibri"/>
              <a:ea typeface="Calibri"/>
              <a:cs typeface="Calibri"/>
              <a:sym typeface="Calibri"/>
            </a:endParaRPr>
          </a:p>
        </p:txBody>
      </p:sp>
      <p:sp>
        <p:nvSpPr>
          <p:cNvPr id="196" name="Google Shape;196;p8"/>
          <p:cNvSpPr/>
          <p:nvPr/>
        </p:nvSpPr>
        <p:spPr>
          <a:xfrm>
            <a:off x="4786313" y="1850231"/>
            <a:ext cx="3786188" cy="385763"/>
          </a:xfrm>
          <a:prstGeom prst="rect">
            <a:avLst/>
          </a:prstGeom>
          <a:noFill/>
          <a:ln>
            <a:noFill/>
          </a:ln>
        </p:spPr>
        <p:txBody>
          <a:bodyPr anchorCtr="0" anchor="t" bIns="0" lIns="255125" spcFirstLastPara="1" rIns="0" wrap="square" tIns="0">
            <a:spAutoFit/>
          </a:bodyPr>
          <a:lstStyle/>
          <a:p>
            <a:pPr indent="0" lvl="0" marL="0" marR="0" rtl="0" algn="l">
              <a:lnSpc>
                <a:spcPct val="120000"/>
              </a:lnSpc>
              <a:spcBef>
                <a:spcPts val="0"/>
              </a:spcBef>
              <a:spcAft>
                <a:spcPts val="0"/>
              </a:spcAft>
              <a:buClr>
                <a:srgbClr val="333F58"/>
              </a:buClr>
              <a:buSzPts val="950"/>
              <a:buFont typeface="Inter Light"/>
              <a:buNone/>
            </a:pPr>
            <a:r>
              <a:rPr b="0" i="0" lang="en-US" sz="950" u="none" cap="none" strike="noStrike">
                <a:solidFill>
                  <a:srgbClr val="333F58"/>
                </a:solidFill>
                <a:latin typeface="Inter Light"/>
                <a:ea typeface="Inter Light"/>
                <a:cs typeface="Inter Light"/>
                <a:sym typeface="Inter Light"/>
              </a:rPr>
              <a:t>Validation systématique, encodage (prévention XSS, SQL Injection).</a:t>
            </a:r>
            <a:endParaRPr b="0" i="0" sz="950" u="none" cap="none" strike="noStrike">
              <a:solidFill>
                <a:schemeClr val="dk1"/>
              </a:solidFill>
              <a:latin typeface="Calibri"/>
              <a:ea typeface="Calibri"/>
              <a:cs typeface="Calibri"/>
              <a:sym typeface="Calibri"/>
            </a:endParaRPr>
          </a:p>
        </p:txBody>
      </p:sp>
      <p:pic>
        <p:nvPicPr>
          <p:cNvPr descr="preencoded.png" id="197" name="Google Shape;197;p8"/>
          <p:cNvPicPr preferRelativeResize="0"/>
          <p:nvPr/>
        </p:nvPicPr>
        <p:blipFill rotWithShape="1">
          <a:blip r:embed="rId8">
            <a:alphaModFix/>
          </a:blip>
          <a:srcRect b="0" l="0" r="0" t="0"/>
          <a:stretch/>
        </p:blipFill>
        <p:spPr>
          <a:xfrm>
            <a:off x="4786313" y="2436912"/>
            <a:ext cx="128588" cy="128588"/>
          </a:xfrm>
          <a:prstGeom prst="rect">
            <a:avLst/>
          </a:prstGeom>
          <a:noFill/>
          <a:ln>
            <a:noFill/>
          </a:ln>
        </p:spPr>
      </p:pic>
      <p:sp>
        <p:nvSpPr>
          <p:cNvPr id="198" name="Google Shape;198;p8"/>
          <p:cNvSpPr/>
          <p:nvPr/>
        </p:nvSpPr>
        <p:spPr>
          <a:xfrm>
            <a:off x="5000625" y="2414588"/>
            <a:ext cx="1400175" cy="17323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B4D8"/>
              </a:buClr>
              <a:buSzPts val="1000"/>
              <a:buFont typeface="Inter ExtraBold"/>
              <a:buNone/>
            </a:pPr>
            <a:r>
              <a:rPr b="1" i="0" lang="en-US" sz="1000" u="none" cap="none" strike="noStrike">
                <a:solidFill>
                  <a:srgbClr val="00B4D8"/>
                </a:solidFill>
                <a:latin typeface="Inter ExtraBold"/>
                <a:ea typeface="Inter ExtraBold"/>
                <a:cs typeface="Inter ExtraBold"/>
                <a:sym typeface="Inter ExtraBold"/>
              </a:rPr>
              <a:t>Gestion des Erreurs</a:t>
            </a:r>
            <a:endParaRPr b="0" i="0" sz="1000" u="none" cap="none" strike="noStrike">
              <a:solidFill>
                <a:schemeClr val="dk1"/>
              </a:solidFill>
              <a:latin typeface="Calibri"/>
              <a:ea typeface="Calibri"/>
              <a:cs typeface="Calibri"/>
              <a:sym typeface="Calibri"/>
            </a:endParaRPr>
          </a:p>
        </p:txBody>
      </p:sp>
      <p:sp>
        <p:nvSpPr>
          <p:cNvPr id="199" name="Google Shape;199;p8"/>
          <p:cNvSpPr/>
          <p:nvPr/>
        </p:nvSpPr>
        <p:spPr>
          <a:xfrm>
            <a:off x="4786313" y="2644973"/>
            <a:ext cx="3786188" cy="385763"/>
          </a:xfrm>
          <a:prstGeom prst="rect">
            <a:avLst/>
          </a:prstGeom>
          <a:noFill/>
          <a:ln>
            <a:noFill/>
          </a:ln>
        </p:spPr>
        <p:txBody>
          <a:bodyPr anchorCtr="0" anchor="t" bIns="0" lIns="255125" spcFirstLastPara="1" rIns="0" wrap="square" tIns="0">
            <a:spAutoFit/>
          </a:bodyPr>
          <a:lstStyle/>
          <a:p>
            <a:pPr indent="0" lvl="0" marL="0" marR="0" rtl="0" algn="l">
              <a:lnSpc>
                <a:spcPct val="120000"/>
              </a:lnSpc>
              <a:spcBef>
                <a:spcPts val="0"/>
              </a:spcBef>
              <a:spcAft>
                <a:spcPts val="0"/>
              </a:spcAft>
              <a:buClr>
                <a:srgbClr val="333F58"/>
              </a:buClr>
              <a:buSzPts val="950"/>
              <a:buFont typeface="Inter Light"/>
              <a:buNone/>
            </a:pPr>
            <a:r>
              <a:rPr b="0" i="0" lang="en-US" sz="950" u="none" cap="none" strike="noStrike">
                <a:solidFill>
                  <a:srgbClr val="333F58"/>
                </a:solidFill>
                <a:latin typeface="Inter Light"/>
                <a:ea typeface="Inter Light"/>
                <a:cs typeface="Inter Light"/>
                <a:sym typeface="Inter Light"/>
              </a:rPr>
              <a:t>Pas d'infos sensibles dans les logs ou les messages d'erreur API.</a:t>
            </a:r>
            <a:endParaRPr b="0" i="0" sz="950" u="none" cap="none" strike="noStrike">
              <a:solidFill>
                <a:schemeClr val="dk1"/>
              </a:solidFill>
              <a:latin typeface="Calibri"/>
              <a:ea typeface="Calibri"/>
              <a:cs typeface="Calibri"/>
              <a:sym typeface="Calibri"/>
            </a:endParaRPr>
          </a:p>
        </p:txBody>
      </p:sp>
      <p:pic>
        <p:nvPicPr>
          <p:cNvPr descr="preencoded.png" id="200" name="Google Shape;200;p8"/>
          <p:cNvPicPr preferRelativeResize="0"/>
          <p:nvPr/>
        </p:nvPicPr>
        <p:blipFill rotWithShape="1">
          <a:blip r:embed="rId9">
            <a:alphaModFix/>
          </a:blip>
          <a:srcRect b="0" l="0" r="0" t="0"/>
          <a:stretch/>
        </p:blipFill>
        <p:spPr>
          <a:xfrm>
            <a:off x="4786313" y="3231654"/>
            <a:ext cx="128588" cy="128588"/>
          </a:xfrm>
          <a:prstGeom prst="rect">
            <a:avLst/>
          </a:prstGeom>
          <a:noFill/>
          <a:ln>
            <a:noFill/>
          </a:ln>
        </p:spPr>
      </p:pic>
      <p:sp>
        <p:nvSpPr>
          <p:cNvPr id="201" name="Google Shape;201;p8"/>
          <p:cNvSpPr/>
          <p:nvPr/>
        </p:nvSpPr>
        <p:spPr>
          <a:xfrm>
            <a:off x="5000625" y="3209330"/>
            <a:ext cx="1032272" cy="17323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B4D8"/>
              </a:buClr>
              <a:buSzPts val="1000"/>
              <a:buFont typeface="Inter ExtraBold"/>
              <a:buNone/>
            </a:pPr>
            <a:r>
              <a:rPr b="1" i="0" lang="en-US" sz="1000" u="none" cap="none" strike="noStrike">
                <a:solidFill>
                  <a:srgbClr val="00B4D8"/>
                </a:solidFill>
                <a:latin typeface="Inter ExtraBold"/>
                <a:ea typeface="Inter ExtraBold"/>
                <a:cs typeface="Inter ExtraBold"/>
                <a:sym typeface="Inter ExtraBold"/>
              </a:rPr>
              <a:t>Cryptographie</a:t>
            </a:r>
            <a:endParaRPr b="0" i="0" sz="1000" u="none" cap="none" strike="noStrike">
              <a:solidFill>
                <a:schemeClr val="dk1"/>
              </a:solidFill>
              <a:latin typeface="Calibri"/>
              <a:ea typeface="Calibri"/>
              <a:cs typeface="Calibri"/>
              <a:sym typeface="Calibri"/>
            </a:endParaRPr>
          </a:p>
        </p:txBody>
      </p:sp>
      <p:sp>
        <p:nvSpPr>
          <p:cNvPr id="202" name="Google Shape;202;p8"/>
          <p:cNvSpPr/>
          <p:nvPr/>
        </p:nvSpPr>
        <p:spPr>
          <a:xfrm>
            <a:off x="4786313" y="3439716"/>
            <a:ext cx="3786188" cy="385763"/>
          </a:xfrm>
          <a:prstGeom prst="rect">
            <a:avLst/>
          </a:prstGeom>
          <a:noFill/>
          <a:ln>
            <a:noFill/>
          </a:ln>
        </p:spPr>
        <p:txBody>
          <a:bodyPr anchorCtr="0" anchor="t" bIns="0" lIns="255125" spcFirstLastPara="1" rIns="0" wrap="square" tIns="0">
            <a:spAutoFit/>
          </a:bodyPr>
          <a:lstStyle/>
          <a:p>
            <a:pPr indent="0" lvl="0" marL="0" marR="0" rtl="0" algn="l">
              <a:lnSpc>
                <a:spcPct val="120000"/>
              </a:lnSpc>
              <a:spcBef>
                <a:spcPts val="0"/>
              </a:spcBef>
              <a:spcAft>
                <a:spcPts val="0"/>
              </a:spcAft>
              <a:buClr>
                <a:srgbClr val="333F58"/>
              </a:buClr>
              <a:buSzPts val="950"/>
              <a:buFont typeface="Inter Light"/>
              <a:buNone/>
            </a:pPr>
            <a:r>
              <a:rPr b="0" i="0" lang="en-US" sz="950" u="none" cap="none" strike="noStrike">
                <a:solidFill>
                  <a:srgbClr val="333F58"/>
                </a:solidFill>
                <a:latin typeface="Inter Light"/>
                <a:ea typeface="Inter Light"/>
                <a:cs typeface="Inter Light"/>
                <a:sym typeface="Inter Light"/>
              </a:rPr>
              <a:t>Utilisation de librairies standards et d'algorithmes robustes (AES-256).</a:t>
            </a:r>
            <a:endParaRPr b="0" i="0" sz="950" u="none" cap="none" strike="noStrike">
              <a:solidFill>
                <a:schemeClr val="dk1"/>
              </a:solidFill>
              <a:latin typeface="Calibri"/>
              <a:ea typeface="Calibri"/>
              <a:cs typeface="Calibri"/>
              <a:sym typeface="Calibri"/>
            </a:endParaRPr>
          </a:p>
        </p:txBody>
      </p:sp>
      <p:sp>
        <p:nvSpPr>
          <p:cNvPr id="203" name="Google Shape;203;p8"/>
          <p:cNvSpPr/>
          <p:nvPr/>
        </p:nvSpPr>
        <p:spPr>
          <a:xfrm>
            <a:off x="817900" y="3964475"/>
            <a:ext cx="3505800" cy="207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b="1" lang="en-US" sz="1000">
                <a:solidFill>
                  <a:srgbClr val="00B4D8"/>
                </a:solidFill>
                <a:latin typeface="Inter ExtraBold"/>
                <a:ea typeface="Inter ExtraBold"/>
                <a:cs typeface="Inter ExtraBold"/>
                <a:sym typeface="Inter ExtraBold"/>
              </a:rPr>
              <a:t>Protection contre l'Exposition Excessive de Données</a:t>
            </a:r>
            <a:endParaRPr b="1" sz="1100">
              <a:solidFill>
                <a:schemeClr val="dk1"/>
              </a:solidFill>
            </a:endParaRPr>
          </a:p>
          <a:p>
            <a:pPr indent="0" lvl="0" marL="0" marR="0" rtl="0" algn="l">
              <a:spcBef>
                <a:spcPts val="1200"/>
              </a:spcBef>
              <a:spcAft>
                <a:spcPts val="0"/>
              </a:spcAft>
              <a:buClr>
                <a:srgbClr val="00B4D8"/>
              </a:buClr>
              <a:buSzPts val="1000"/>
              <a:buFont typeface="Inter ExtraBold"/>
              <a:buNone/>
            </a:pPr>
            <a:r>
              <a:t/>
            </a:r>
            <a:endParaRPr b="1" sz="1000">
              <a:solidFill>
                <a:srgbClr val="00B4D8"/>
              </a:solidFill>
              <a:latin typeface="Inter ExtraBold"/>
              <a:ea typeface="Inter ExtraBold"/>
              <a:cs typeface="Inter ExtraBold"/>
              <a:sym typeface="Inter ExtraBold"/>
            </a:endParaRPr>
          </a:p>
        </p:txBody>
      </p:sp>
      <p:sp>
        <p:nvSpPr>
          <p:cNvPr id="204" name="Google Shape;204;p8"/>
          <p:cNvSpPr/>
          <p:nvPr/>
        </p:nvSpPr>
        <p:spPr>
          <a:xfrm>
            <a:off x="571450" y="4194866"/>
            <a:ext cx="3786300" cy="385800"/>
          </a:xfrm>
          <a:prstGeom prst="rect">
            <a:avLst/>
          </a:prstGeom>
          <a:noFill/>
          <a:ln>
            <a:noFill/>
          </a:ln>
        </p:spPr>
        <p:txBody>
          <a:bodyPr anchorCtr="0" anchor="t" bIns="0" lIns="255125" spcFirstLastPara="1" rIns="0" wrap="square" tIns="0">
            <a:noAutofit/>
          </a:bodyPr>
          <a:lstStyle/>
          <a:p>
            <a:pPr indent="0" lvl="0" marL="0" rtl="0" algn="l">
              <a:lnSpc>
                <a:spcPct val="120000"/>
              </a:lnSpc>
              <a:spcBef>
                <a:spcPts val="0"/>
              </a:spcBef>
              <a:spcAft>
                <a:spcPts val="0"/>
              </a:spcAft>
              <a:buClr>
                <a:schemeClr val="dk1"/>
              </a:buClr>
              <a:buSzPts val="1100"/>
              <a:buFont typeface="Arial"/>
              <a:buNone/>
            </a:pPr>
            <a:r>
              <a:rPr b="1" lang="en-US" sz="950">
                <a:solidFill>
                  <a:srgbClr val="333F58"/>
                </a:solidFill>
                <a:latin typeface="Inter"/>
                <a:ea typeface="Inter"/>
                <a:cs typeface="Inter"/>
                <a:sym typeface="Inter"/>
              </a:rPr>
              <a:t>Data Transformation </a:t>
            </a:r>
            <a:r>
              <a:rPr lang="en-US" sz="950">
                <a:solidFill>
                  <a:srgbClr val="333F58"/>
                </a:solidFill>
                <a:latin typeface="Inter Light"/>
                <a:ea typeface="Inter Light"/>
                <a:cs typeface="Inter Light"/>
                <a:sym typeface="Inter Light"/>
              </a:rPr>
              <a:t>: Utilisation de la Gateway pour masquer ou filtrer certains champs sensibles dans les réponses sortantes.</a:t>
            </a:r>
            <a:endParaRPr sz="950">
              <a:solidFill>
                <a:srgbClr val="333F58"/>
              </a:solidFill>
              <a:latin typeface="Inter Light"/>
              <a:ea typeface="Inter Light"/>
              <a:cs typeface="Inter Light"/>
              <a:sym typeface="Inter Light"/>
            </a:endParaRPr>
          </a:p>
          <a:p>
            <a:pPr indent="0" lvl="0" marL="0" rtl="0" algn="l">
              <a:lnSpc>
                <a:spcPct val="120000"/>
              </a:lnSpc>
              <a:spcBef>
                <a:spcPts val="0"/>
              </a:spcBef>
              <a:spcAft>
                <a:spcPts val="0"/>
              </a:spcAft>
              <a:buClr>
                <a:schemeClr val="dk1"/>
              </a:buClr>
              <a:buSzPts val="1100"/>
              <a:buFont typeface="Arial"/>
              <a:buNone/>
            </a:pPr>
            <a:r>
              <a:rPr b="1" lang="en-US" sz="950">
                <a:solidFill>
                  <a:srgbClr val="333F58"/>
                </a:solidFill>
                <a:latin typeface="Inter"/>
                <a:ea typeface="Inter"/>
                <a:cs typeface="Inter"/>
                <a:sym typeface="Inter"/>
              </a:rPr>
              <a:t>Minimisation </a:t>
            </a:r>
            <a:r>
              <a:rPr lang="en-US" sz="950">
                <a:solidFill>
                  <a:srgbClr val="333F58"/>
                </a:solidFill>
                <a:latin typeface="Inter Light"/>
                <a:ea typeface="Inter Light"/>
                <a:cs typeface="Inter Light"/>
                <a:sym typeface="Inter Light"/>
              </a:rPr>
              <a:t>: Ne renvoyer que le strict nécessaire au consommateur (éviter les objets JSON "full" de la base).</a:t>
            </a:r>
            <a:endParaRPr sz="950">
              <a:solidFill>
                <a:srgbClr val="333F58"/>
              </a:solidFill>
              <a:latin typeface="Inter Light"/>
              <a:ea typeface="Inter Light"/>
              <a:cs typeface="Inter Light"/>
              <a:sym typeface="Inter Light"/>
            </a:endParaRPr>
          </a:p>
          <a:p>
            <a:pPr indent="0" lvl="0" marL="0" marR="0" rtl="0" algn="l">
              <a:lnSpc>
                <a:spcPct val="120000"/>
              </a:lnSpc>
              <a:spcBef>
                <a:spcPts val="0"/>
              </a:spcBef>
              <a:spcAft>
                <a:spcPts val="0"/>
              </a:spcAft>
              <a:buClr>
                <a:srgbClr val="333F58"/>
              </a:buClr>
              <a:buSzPts val="950"/>
              <a:buFont typeface="Inter Light"/>
              <a:buNone/>
            </a:pPr>
            <a:r>
              <a:t/>
            </a:r>
            <a:endParaRPr sz="950">
              <a:solidFill>
                <a:srgbClr val="333F58"/>
              </a:solidFill>
              <a:latin typeface="Inter Light"/>
              <a:ea typeface="Inter Light"/>
              <a:cs typeface="Inter Light"/>
              <a:sym typeface="Inter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descr="preencoded.png" id="210" name="Google Shape;210;p9"/>
          <p:cNvPicPr preferRelativeResize="0"/>
          <p:nvPr/>
        </p:nvPicPr>
        <p:blipFill rotWithShape="1">
          <a:blip r:embed="rId3">
            <a:alphaModFix/>
          </a:blip>
          <a:srcRect b="0" l="0" r="0" t="0"/>
          <a:stretch/>
        </p:blipFill>
        <p:spPr>
          <a:xfrm>
            <a:off x="0" y="0"/>
            <a:ext cx="9144000" cy="5158457"/>
          </a:xfrm>
          <a:prstGeom prst="rect">
            <a:avLst/>
          </a:prstGeom>
          <a:noFill/>
          <a:ln>
            <a:noFill/>
          </a:ln>
        </p:spPr>
      </p:pic>
      <p:sp>
        <p:nvSpPr>
          <p:cNvPr id="211" name="Google Shape;211;p9"/>
          <p:cNvSpPr/>
          <p:nvPr/>
        </p:nvSpPr>
        <p:spPr>
          <a:xfrm>
            <a:off x="0" y="0"/>
            <a:ext cx="9144000" cy="805458"/>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9"/>
          <p:cNvSpPr/>
          <p:nvPr/>
        </p:nvSpPr>
        <p:spPr>
          <a:xfrm>
            <a:off x="0" y="776883"/>
            <a:ext cx="9144000" cy="28575"/>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9"/>
          <p:cNvSpPr/>
          <p:nvPr/>
        </p:nvSpPr>
        <p:spPr>
          <a:xfrm>
            <a:off x="571500" y="357188"/>
            <a:ext cx="8001000" cy="2768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A192F"/>
              </a:buClr>
              <a:buSzPts val="1600"/>
              <a:buFont typeface="Inter ExtraBold"/>
              <a:buNone/>
            </a:pPr>
            <a:r>
              <a:rPr b="1" i="0" lang="en-US" sz="1600" u="none" cap="none" strike="noStrike">
                <a:solidFill>
                  <a:srgbClr val="0A192F"/>
                </a:solidFill>
                <a:latin typeface="Inter ExtraBold"/>
                <a:ea typeface="Inter ExtraBold"/>
                <a:cs typeface="Inter ExtraBold"/>
                <a:sym typeface="Inter ExtraBold"/>
              </a:rPr>
              <a:t>Gestion des faux positifs : un enjeu critique pour la crédibilité de l'offre</a:t>
            </a:r>
            <a:endParaRPr b="0" i="0" sz="1600" u="none" cap="none" strike="noStrike">
              <a:solidFill>
                <a:schemeClr val="dk1"/>
              </a:solidFill>
              <a:latin typeface="Calibri"/>
              <a:ea typeface="Calibri"/>
              <a:cs typeface="Calibri"/>
              <a:sym typeface="Calibri"/>
            </a:endParaRPr>
          </a:p>
        </p:txBody>
      </p:sp>
      <p:sp>
        <p:nvSpPr>
          <p:cNvPr id="214" name="Google Shape;214;p9"/>
          <p:cNvSpPr/>
          <p:nvPr/>
        </p:nvSpPr>
        <p:spPr>
          <a:xfrm>
            <a:off x="571500" y="1234083"/>
            <a:ext cx="2650331" cy="17323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A192F"/>
              </a:buClr>
              <a:buSzPts val="1000"/>
              <a:buFont typeface="Inter ExtraBold"/>
              <a:buNone/>
            </a:pPr>
            <a:r>
              <a:rPr b="1" i="0" lang="en-US" sz="1000" u="none" cap="none" strike="noStrike">
                <a:solidFill>
                  <a:srgbClr val="0A192F"/>
                </a:solidFill>
                <a:latin typeface="Inter ExtraBold"/>
                <a:ea typeface="Inter ExtraBold"/>
                <a:cs typeface="Inter ExtraBold"/>
                <a:sym typeface="Inter ExtraBold"/>
              </a:rPr>
              <a:t>LE PROBLÈME DES FAUX POSITIFS</a:t>
            </a:r>
            <a:endParaRPr b="0" i="0" sz="1000" u="none" cap="none" strike="noStrike">
              <a:solidFill>
                <a:schemeClr val="dk1"/>
              </a:solidFill>
              <a:latin typeface="Calibri"/>
              <a:ea typeface="Calibri"/>
              <a:cs typeface="Calibri"/>
              <a:sym typeface="Calibri"/>
            </a:endParaRPr>
          </a:p>
        </p:txBody>
      </p:sp>
      <p:sp>
        <p:nvSpPr>
          <p:cNvPr id="215" name="Google Shape;215;p9"/>
          <p:cNvSpPr/>
          <p:nvPr/>
        </p:nvSpPr>
        <p:spPr>
          <a:xfrm>
            <a:off x="571500" y="1514475"/>
            <a:ext cx="2650331" cy="822871"/>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Clr>
                <a:srgbClr val="333F58"/>
              </a:buClr>
              <a:buSzPts val="950"/>
              <a:buFont typeface="Inter Light"/>
              <a:buNone/>
            </a:pPr>
            <a:r>
              <a:rPr b="0" i="0" lang="en-US" sz="950" u="none" cap="none" strike="noStrike">
                <a:solidFill>
                  <a:srgbClr val="333F58"/>
                </a:solidFill>
                <a:latin typeface="Inter Light"/>
                <a:ea typeface="Inter Light"/>
                <a:cs typeface="Inter Light"/>
                <a:sym typeface="Inter Light"/>
              </a:rPr>
              <a:t>Les outils SAST, SCA ou les Pentests génèrent parfois des faux positifs. Un doute non levé crée de la frustration et érode la confiance dans nos contrôles.</a:t>
            </a:r>
            <a:endParaRPr b="0" i="0" sz="950" u="none" cap="none" strike="noStrike">
              <a:solidFill>
                <a:schemeClr val="dk1"/>
              </a:solidFill>
              <a:latin typeface="Calibri"/>
              <a:ea typeface="Calibri"/>
              <a:cs typeface="Calibri"/>
              <a:sym typeface="Calibri"/>
            </a:endParaRPr>
          </a:p>
        </p:txBody>
      </p:sp>
      <p:sp>
        <p:nvSpPr>
          <p:cNvPr id="216" name="Google Shape;216;p9"/>
          <p:cNvSpPr/>
          <p:nvPr/>
        </p:nvSpPr>
        <p:spPr>
          <a:xfrm>
            <a:off x="571500" y="2865983"/>
            <a:ext cx="2650331" cy="17323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A192F"/>
              </a:buClr>
              <a:buSzPts val="1000"/>
              <a:buFont typeface="Inter ExtraBold"/>
              <a:buNone/>
            </a:pPr>
            <a:r>
              <a:rPr b="1" i="0" lang="en-US" sz="1000" u="none" cap="none" strike="noStrike">
                <a:solidFill>
                  <a:srgbClr val="0A192F"/>
                </a:solidFill>
                <a:latin typeface="Inter ExtraBold"/>
                <a:ea typeface="Inter ExtraBold"/>
                <a:cs typeface="Inter ExtraBold"/>
                <a:sym typeface="Inter ExtraBold"/>
              </a:rPr>
              <a:t>PRINCIPE DIRECTEUR</a:t>
            </a:r>
            <a:endParaRPr b="0" i="0" sz="1000" u="none" cap="none" strike="noStrike">
              <a:solidFill>
                <a:schemeClr val="dk1"/>
              </a:solidFill>
              <a:latin typeface="Calibri"/>
              <a:ea typeface="Calibri"/>
              <a:cs typeface="Calibri"/>
              <a:sym typeface="Calibri"/>
            </a:endParaRPr>
          </a:p>
        </p:txBody>
      </p:sp>
      <p:sp>
        <p:nvSpPr>
          <p:cNvPr id="217" name="Google Shape;217;p9"/>
          <p:cNvSpPr/>
          <p:nvPr/>
        </p:nvSpPr>
        <p:spPr>
          <a:xfrm>
            <a:off x="571500" y="3146375"/>
            <a:ext cx="2650331" cy="64293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A192F"/>
              </a:buClr>
              <a:buSzPts val="1000"/>
              <a:buFont typeface="Inter ExtraBold"/>
              <a:buNone/>
            </a:pPr>
            <a:r>
              <a:rPr b="1" i="0" lang="en-US" sz="1000" u="none" cap="none" strike="noStrike">
                <a:solidFill>
                  <a:srgbClr val="0A192F"/>
                </a:solidFill>
                <a:latin typeface="Inter ExtraBold"/>
                <a:ea typeface="Inter ExtraBold"/>
                <a:cs typeface="Inter ExtraBold"/>
                <a:sym typeface="Inter ExtraBold"/>
              </a:rPr>
              <a:t>Toute exception est documentée, justifiée et réévaluée. </a:t>
            </a:r>
            <a:br>
              <a:rPr b="1" i="0" lang="en-US" sz="1000" u="none" cap="none" strike="noStrike">
                <a:solidFill>
                  <a:srgbClr val="0A192F"/>
                </a:solidFill>
                <a:latin typeface="Inter ExtraBold"/>
                <a:ea typeface="Inter ExtraBold"/>
                <a:cs typeface="Inter ExtraBold"/>
                <a:sym typeface="Inter ExtraBold"/>
              </a:rPr>
            </a:br>
            <a:r>
              <a:rPr b="1" i="0" lang="en-US" sz="1000" u="none" cap="none" strike="noStrike">
                <a:solidFill>
                  <a:srgbClr val="F4A261"/>
                </a:solidFill>
                <a:latin typeface="Inter ExtraBold"/>
                <a:ea typeface="Inter ExtraBold"/>
                <a:cs typeface="Inter ExtraBold"/>
                <a:sym typeface="Inter ExtraBold"/>
              </a:rPr>
              <a:t>Aucun contournement silencieux.</a:t>
            </a:r>
            <a:endParaRPr b="0" i="0" sz="1000" u="none" cap="none" strike="noStrike">
              <a:solidFill>
                <a:schemeClr val="dk1"/>
              </a:solidFill>
              <a:latin typeface="Calibri"/>
              <a:ea typeface="Calibri"/>
              <a:cs typeface="Calibri"/>
              <a:sym typeface="Calibri"/>
            </a:endParaRPr>
          </a:p>
        </p:txBody>
      </p:sp>
      <p:sp>
        <p:nvSpPr>
          <p:cNvPr id="218" name="Google Shape;218;p9"/>
          <p:cNvSpPr/>
          <p:nvPr/>
        </p:nvSpPr>
        <p:spPr>
          <a:xfrm>
            <a:off x="3650456" y="1062633"/>
            <a:ext cx="4922044" cy="307181"/>
          </a:xfrm>
          <a:prstGeom prst="rect">
            <a:avLst/>
          </a:prstGeom>
          <a:noFill/>
          <a:ln>
            <a:noFill/>
          </a:ln>
        </p:spPr>
        <p:txBody>
          <a:bodyPr anchorCtr="0" anchor="t" bIns="85075" lIns="0" spcFirstLastPara="1" rIns="0" wrap="square" tIns="0">
            <a:spAutoFit/>
          </a:bodyPr>
          <a:lstStyle/>
          <a:p>
            <a:pPr indent="0" lvl="0" marL="0" marR="0" rtl="0" algn="l">
              <a:spcBef>
                <a:spcPts val="0"/>
              </a:spcBef>
              <a:spcAft>
                <a:spcPts val="0"/>
              </a:spcAft>
              <a:buClr>
                <a:srgbClr val="0A192F"/>
              </a:buClr>
              <a:buSzPts val="1200"/>
              <a:buFont typeface="Inter ExtraBold"/>
              <a:buNone/>
            </a:pPr>
            <a:r>
              <a:rPr b="1" i="0" lang="en-US" sz="1200" u="none" cap="none" strike="noStrike">
                <a:solidFill>
                  <a:srgbClr val="0A192F"/>
                </a:solidFill>
                <a:latin typeface="Inter ExtraBold"/>
                <a:ea typeface="Inter ExtraBold"/>
                <a:cs typeface="Inter ExtraBold"/>
                <a:sym typeface="Inter ExtraBold"/>
              </a:rPr>
              <a:t>Notre processus de qualification</a:t>
            </a:r>
            <a:endParaRPr b="0" i="0" sz="1200" u="none" cap="none" strike="noStrike">
              <a:solidFill>
                <a:schemeClr val="dk1"/>
              </a:solidFill>
              <a:latin typeface="Calibri"/>
              <a:ea typeface="Calibri"/>
              <a:cs typeface="Calibri"/>
              <a:sym typeface="Calibri"/>
            </a:endParaRPr>
          </a:p>
        </p:txBody>
      </p:sp>
      <p:sp>
        <p:nvSpPr>
          <p:cNvPr id="219" name="Google Shape;219;p9"/>
          <p:cNvSpPr/>
          <p:nvPr/>
        </p:nvSpPr>
        <p:spPr>
          <a:xfrm>
            <a:off x="3650456" y="1512689"/>
            <a:ext cx="1230511" cy="13751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333F58"/>
              </a:buClr>
              <a:buSzPts val="800"/>
              <a:buFont typeface="Inter ExtraBold"/>
              <a:buNone/>
            </a:pPr>
            <a:r>
              <a:rPr b="1" i="0" lang="en-US" sz="800" u="none" cap="none" strike="noStrike">
                <a:solidFill>
                  <a:srgbClr val="333F58"/>
                </a:solidFill>
                <a:latin typeface="Inter ExtraBold"/>
                <a:ea typeface="Inter ExtraBold"/>
                <a:cs typeface="Inter ExtraBold"/>
                <a:sym typeface="Inter ExtraBold"/>
              </a:rPr>
              <a:t>ÉTAPE</a:t>
            </a:r>
            <a:endParaRPr b="0" i="0" sz="800" u="none" cap="none" strike="noStrike">
              <a:solidFill>
                <a:schemeClr val="dk1"/>
              </a:solidFill>
              <a:latin typeface="Calibri"/>
              <a:ea typeface="Calibri"/>
              <a:cs typeface="Calibri"/>
              <a:sym typeface="Calibri"/>
            </a:endParaRPr>
          </a:p>
        </p:txBody>
      </p:sp>
      <p:sp>
        <p:nvSpPr>
          <p:cNvPr id="220" name="Google Shape;220;p9"/>
          <p:cNvSpPr/>
          <p:nvPr/>
        </p:nvSpPr>
        <p:spPr>
          <a:xfrm>
            <a:off x="4880967" y="1512689"/>
            <a:ext cx="2461022" cy="13751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333F58"/>
              </a:buClr>
              <a:buSzPts val="800"/>
              <a:buFont typeface="Inter ExtraBold"/>
              <a:buNone/>
            </a:pPr>
            <a:r>
              <a:rPr b="1" i="0" lang="en-US" sz="800" u="none" cap="none" strike="noStrike">
                <a:solidFill>
                  <a:srgbClr val="333F58"/>
                </a:solidFill>
                <a:latin typeface="Inter ExtraBold"/>
                <a:ea typeface="Inter ExtraBold"/>
                <a:cs typeface="Inter ExtraBold"/>
                <a:sym typeface="Inter ExtraBold"/>
              </a:rPr>
              <a:t>ACTION</a:t>
            </a:r>
            <a:endParaRPr b="0" i="0" sz="800" u="none" cap="none" strike="noStrike">
              <a:solidFill>
                <a:schemeClr val="dk1"/>
              </a:solidFill>
              <a:latin typeface="Calibri"/>
              <a:ea typeface="Calibri"/>
              <a:cs typeface="Calibri"/>
              <a:sym typeface="Calibri"/>
            </a:endParaRPr>
          </a:p>
        </p:txBody>
      </p:sp>
      <p:sp>
        <p:nvSpPr>
          <p:cNvPr id="221" name="Google Shape;221;p9"/>
          <p:cNvSpPr/>
          <p:nvPr/>
        </p:nvSpPr>
        <p:spPr>
          <a:xfrm>
            <a:off x="7341989" y="1512689"/>
            <a:ext cx="1230511" cy="13751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333F58"/>
              </a:buClr>
              <a:buSzPts val="800"/>
              <a:buFont typeface="Inter ExtraBold"/>
              <a:buNone/>
            </a:pPr>
            <a:r>
              <a:rPr b="1" i="0" lang="en-US" sz="800" u="none" cap="none" strike="noStrike">
                <a:solidFill>
                  <a:srgbClr val="333F58"/>
                </a:solidFill>
                <a:latin typeface="Inter ExtraBold"/>
                <a:ea typeface="Inter ExtraBold"/>
                <a:cs typeface="Inter ExtraBold"/>
                <a:sym typeface="Inter ExtraBold"/>
              </a:rPr>
              <a:t>ACTEUR</a:t>
            </a:r>
            <a:endParaRPr b="0" i="0" sz="800" u="none" cap="none" strike="noStrike">
              <a:solidFill>
                <a:schemeClr val="dk1"/>
              </a:solidFill>
              <a:latin typeface="Calibri"/>
              <a:ea typeface="Calibri"/>
              <a:cs typeface="Calibri"/>
              <a:sym typeface="Calibri"/>
            </a:endParaRPr>
          </a:p>
        </p:txBody>
      </p:sp>
      <p:sp>
        <p:nvSpPr>
          <p:cNvPr id="222" name="Google Shape;222;p9"/>
          <p:cNvSpPr/>
          <p:nvPr/>
        </p:nvSpPr>
        <p:spPr>
          <a:xfrm>
            <a:off x="3650456" y="2026676"/>
            <a:ext cx="135731" cy="20716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B4D8"/>
              </a:buClr>
              <a:buSzPts val="1200"/>
              <a:buFont typeface="Inter ExtraBold"/>
              <a:buNone/>
            </a:pPr>
            <a:r>
              <a:rPr b="1" i="0" lang="en-US" sz="1200" u="none" cap="none" strike="noStrike">
                <a:solidFill>
                  <a:srgbClr val="00B4D8"/>
                </a:solidFill>
                <a:latin typeface="Inter ExtraBold"/>
                <a:ea typeface="Inter ExtraBold"/>
                <a:cs typeface="Inter ExtraBold"/>
                <a:sym typeface="Inter ExtraBold"/>
              </a:rPr>
              <a:t>1.</a:t>
            </a:r>
            <a:endParaRPr b="0" i="0" sz="1200" u="none" cap="none" strike="noStrike">
              <a:solidFill>
                <a:schemeClr val="dk1"/>
              </a:solidFill>
              <a:latin typeface="Calibri"/>
              <a:ea typeface="Calibri"/>
              <a:cs typeface="Calibri"/>
              <a:sym typeface="Calibri"/>
            </a:endParaRPr>
          </a:p>
        </p:txBody>
      </p:sp>
      <p:sp>
        <p:nvSpPr>
          <p:cNvPr id="223" name="Google Shape;223;p9"/>
          <p:cNvSpPr/>
          <p:nvPr/>
        </p:nvSpPr>
        <p:spPr>
          <a:xfrm>
            <a:off x="3857625" y="2052572"/>
            <a:ext cx="801886" cy="1553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B4D8"/>
              </a:buClr>
              <a:buSzPts val="900"/>
              <a:buFont typeface="Inter ExtraBold"/>
              <a:buNone/>
            </a:pPr>
            <a:r>
              <a:rPr b="1" i="0" lang="en-US" sz="900" u="none" cap="none" strike="noStrike">
                <a:solidFill>
                  <a:srgbClr val="00B4D8"/>
                </a:solidFill>
                <a:latin typeface="Inter ExtraBold"/>
                <a:ea typeface="Inter ExtraBold"/>
                <a:cs typeface="Inter ExtraBold"/>
                <a:sym typeface="Inter ExtraBold"/>
              </a:rPr>
              <a:t>Signalement</a:t>
            </a:r>
            <a:endParaRPr b="0" i="0" sz="900" u="none" cap="none" strike="noStrike">
              <a:solidFill>
                <a:schemeClr val="dk1"/>
              </a:solidFill>
              <a:latin typeface="Calibri"/>
              <a:ea typeface="Calibri"/>
              <a:cs typeface="Calibri"/>
              <a:sym typeface="Calibri"/>
            </a:endParaRPr>
          </a:p>
        </p:txBody>
      </p:sp>
      <p:sp>
        <p:nvSpPr>
          <p:cNvPr id="224" name="Google Shape;224;p9"/>
          <p:cNvSpPr/>
          <p:nvPr/>
        </p:nvSpPr>
        <p:spPr>
          <a:xfrm>
            <a:off x="4880967" y="1950244"/>
            <a:ext cx="2461022" cy="360034"/>
          </a:xfrm>
          <a:prstGeom prst="rect">
            <a:avLst/>
          </a:prstGeom>
          <a:noFill/>
          <a:ln>
            <a:noFill/>
          </a:ln>
        </p:spPr>
        <p:txBody>
          <a:bodyPr anchorCtr="0" anchor="t" bIns="0" lIns="0" spcFirstLastPara="1" rIns="170050" wrap="square" tIns="0">
            <a:spAutoFit/>
          </a:bodyPr>
          <a:lstStyle/>
          <a:p>
            <a:pPr indent="0" lvl="0" marL="0" marR="0" rtl="0" algn="l">
              <a:lnSpc>
                <a:spcPct val="112000"/>
              </a:lnSpc>
              <a:spcBef>
                <a:spcPts val="0"/>
              </a:spcBef>
              <a:spcAft>
                <a:spcPts val="0"/>
              </a:spcAft>
              <a:buClr>
                <a:srgbClr val="333F58"/>
              </a:buClr>
              <a:buSzPts val="950"/>
              <a:buFont typeface="Inter Light"/>
              <a:buNone/>
            </a:pPr>
            <a:r>
              <a:rPr b="0" i="0" lang="en-US" sz="950" u="none" cap="none" strike="noStrike">
                <a:solidFill>
                  <a:srgbClr val="333F58"/>
                </a:solidFill>
                <a:latin typeface="Inter Light"/>
                <a:ea typeface="Inter Light"/>
                <a:cs typeface="Inter Light"/>
                <a:sym typeface="Inter Light"/>
              </a:rPr>
              <a:t>Le développeur conteste un finding (SCA, SAST ou Pentest)</a:t>
            </a:r>
            <a:endParaRPr b="0" i="0" sz="950" u="none" cap="none" strike="noStrike">
              <a:solidFill>
                <a:schemeClr val="dk1"/>
              </a:solidFill>
              <a:latin typeface="Calibri"/>
              <a:ea typeface="Calibri"/>
              <a:cs typeface="Calibri"/>
              <a:sym typeface="Calibri"/>
            </a:endParaRPr>
          </a:p>
        </p:txBody>
      </p:sp>
      <p:sp>
        <p:nvSpPr>
          <p:cNvPr id="225" name="Google Shape;225;p9"/>
          <p:cNvSpPr/>
          <p:nvPr/>
        </p:nvSpPr>
        <p:spPr>
          <a:xfrm>
            <a:off x="7341989" y="2004352"/>
            <a:ext cx="1230511" cy="251817"/>
          </a:xfrm>
          <a:prstGeom prst="rect">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9"/>
          <p:cNvSpPr/>
          <p:nvPr/>
        </p:nvSpPr>
        <p:spPr>
          <a:xfrm>
            <a:off x="7341989" y="2004352"/>
            <a:ext cx="1230511" cy="251817"/>
          </a:xfrm>
          <a:prstGeom prst="rect">
            <a:avLst/>
          </a:prstGeom>
          <a:noFill/>
          <a:ln>
            <a:noFill/>
          </a:ln>
        </p:spPr>
        <p:txBody>
          <a:bodyPr anchorCtr="0" anchor="t" bIns="68050" lIns="102100" spcFirstLastPara="1" rIns="102100" wrap="square" tIns="68050">
            <a:spAutoFit/>
          </a:bodyPr>
          <a:lstStyle/>
          <a:p>
            <a:pPr indent="0" lvl="0" marL="0" marR="0" rtl="0" algn="l">
              <a:spcBef>
                <a:spcPts val="0"/>
              </a:spcBef>
              <a:spcAft>
                <a:spcPts val="0"/>
              </a:spcAft>
              <a:buClr>
                <a:srgbClr val="0A192F"/>
              </a:buClr>
              <a:buSzPts val="800"/>
              <a:buFont typeface="Inter ExtraBold"/>
              <a:buNone/>
            </a:pPr>
            <a:r>
              <a:rPr b="1" i="0" lang="en-US" sz="800" u="none" cap="none" strike="noStrike">
                <a:solidFill>
                  <a:srgbClr val="0A192F"/>
                </a:solidFill>
                <a:latin typeface="Inter ExtraBold"/>
                <a:ea typeface="Inter ExtraBold"/>
                <a:cs typeface="Inter ExtraBold"/>
                <a:sym typeface="Inter ExtraBold"/>
              </a:rPr>
              <a:t>Développeur</a:t>
            </a:r>
            <a:endParaRPr b="0" i="0" sz="800" u="none" cap="none" strike="noStrike">
              <a:solidFill>
                <a:schemeClr val="dk1"/>
              </a:solidFill>
              <a:latin typeface="Calibri"/>
              <a:ea typeface="Calibri"/>
              <a:cs typeface="Calibri"/>
              <a:sym typeface="Calibri"/>
            </a:endParaRPr>
          </a:p>
        </p:txBody>
      </p:sp>
      <p:sp>
        <p:nvSpPr>
          <p:cNvPr id="227" name="Google Shape;227;p9"/>
          <p:cNvSpPr/>
          <p:nvPr/>
        </p:nvSpPr>
        <p:spPr>
          <a:xfrm>
            <a:off x="3650456" y="2608166"/>
            <a:ext cx="169664" cy="20716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B4D8"/>
              </a:buClr>
              <a:buSzPts val="1200"/>
              <a:buFont typeface="Inter ExtraBold"/>
              <a:buNone/>
            </a:pPr>
            <a:r>
              <a:rPr b="1" i="0" lang="en-US" sz="1200" u="none" cap="none" strike="noStrike">
                <a:solidFill>
                  <a:srgbClr val="00B4D8"/>
                </a:solidFill>
                <a:latin typeface="Inter ExtraBold"/>
                <a:ea typeface="Inter ExtraBold"/>
                <a:cs typeface="Inter ExtraBold"/>
                <a:sym typeface="Inter ExtraBold"/>
              </a:rPr>
              <a:t>2.</a:t>
            </a:r>
            <a:endParaRPr b="0" i="0" sz="1200" u="none" cap="none" strike="noStrike">
              <a:solidFill>
                <a:schemeClr val="dk1"/>
              </a:solidFill>
              <a:latin typeface="Calibri"/>
              <a:ea typeface="Calibri"/>
              <a:cs typeface="Calibri"/>
              <a:sym typeface="Calibri"/>
            </a:endParaRPr>
          </a:p>
        </p:txBody>
      </p:sp>
      <p:sp>
        <p:nvSpPr>
          <p:cNvPr id="228" name="Google Shape;228;p9"/>
          <p:cNvSpPr/>
          <p:nvPr/>
        </p:nvSpPr>
        <p:spPr>
          <a:xfrm>
            <a:off x="3891558" y="2634062"/>
            <a:ext cx="523280" cy="1553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B4D8"/>
              </a:buClr>
              <a:buSzPts val="900"/>
              <a:buFont typeface="Inter ExtraBold"/>
              <a:buNone/>
            </a:pPr>
            <a:r>
              <a:rPr b="1" i="0" lang="en-US" sz="900" u="none" cap="none" strike="noStrike">
                <a:solidFill>
                  <a:srgbClr val="00B4D8"/>
                </a:solidFill>
                <a:latin typeface="Inter ExtraBold"/>
                <a:ea typeface="Inter ExtraBold"/>
                <a:cs typeface="Inter ExtraBold"/>
                <a:sym typeface="Inter ExtraBold"/>
              </a:rPr>
              <a:t>Analyse</a:t>
            </a:r>
            <a:endParaRPr b="0" i="0" sz="900" u="none" cap="none" strike="noStrike">
              <a:solidFill>
                <a:schemeClr val="dk1"/>
              </a:solidFill>
              <a:latin typeface="Calibri"/>
              <a:ea typeface="Calibri"/>
              <a:cs typeface="Calibri"/>
              <a:sym typeface="Calibri"/>
            </a:endParaRPr>
          </a:p>
        </p:txBody>
      </p:sp>
      <p:sp>
        <p:nvSpPr>
          <p:cNvPr id="229" name="Google Shape;229;p9"/>
          <p:cNvSpPr/>
          <p:nvPr/>
        </p:nvSpPr>
        <p:spPr>
          <a:xfrm>
            <a:off x="4880967" y="2531734"/>
            <a:ext cx="2461022" cy="360034"/>
          </a:xfrm>
          <a:prstGeom prst="rect">
            <a:avLst/>
          </a:prstGeom>
          <a:noFill/>
          <a:ln>
            <a:noFill/>
          </a:ln>
        </p:spPr>
        <p:txBody>
          <a:bodyPr anchorCtr="0" anchor="t" bIns="0" lIns="0" spcFirstLastPara="1" rIns="170050" wrap="square" tIns="0">
            <a:spAutoFit/>
          </a:bodyPr>
          <a:lstStyle/>
          <a:p>
            <a:pPr indent="0" lvl="0" marL="0" marR="0" rtl="0" algn="l">
              <a:lnSpc>
                <a:spcPct val="112000"/>
              </a:lnSpc>
              <a:spcBef>
                <a:spcPts val="0"/>
              </a:spcBef>
              <a:spcAft>
                <a:spcPts val="0"/>
              </a:spcAft>
              <a:buClr>
                <a:srgbClr val="333F58"/>
              </a:buClr>
              <a:buSzPts val="950"/>
              <a:buFont typeface="Inter Light"/>
              <a:buNone/>
            </a:pPr>
            <a:r>
              <a:rPr b="0" i="0" lang="en-US" sz="950" u="none" cap="none" strike="noStrike">
                <a:solidFill>
                  <a:srgbClr val="333F58"/>
                </a:solidFill>
                <a:latin typeface="Inter Light"/>
                <a:ea typeface="Inter Light"/>
                <a:cs typeface="Inter Light"/>
                <a:sym typeface="Inter Light"/>
              </a:rPr>
              <a:t>Revue technique du contexte et de l'exploitabilité</a:t>
            </a:r>
            <a:endParaRPr b="0" i="0" sz="950" u="none" cap="none" strike="noStrike">
              <a:solidFill>
                <a:schemeClr val="dk1"/>
              </a:solidFill>
              <a:latin typeface="Calibri"/>
              <a:ea typeface="Calibri"/>
              <a:cs typeface="Calibri"/>
              <a:sym typeface="Calibri"/>
            </a:endParaRPr>
          </a:p>
        </p:txBody>
      </p:sp>
      <p:sp>
        <p:nvSpPr>
          <p:cNvPr id="230" name="Google Shape;230;p9"/>
          <p:cNvSpPr/>
          <p:nvPr/>
        </p:nvSpPr>
        <p:spPr>
          <a:xfrm>
            <a:off x="7341989" y="2585842"/>
            <a:ext cx="1230511" cy="251817"/>
          </a:xfrm>
          <a:prstGeom prst="rect">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9"/>
          <p:cNvSpPr/>
          <p:nvPr/>
        </p:nvSpPr>
        <p:spPr>
          <a:xfrm>
            <a:off x="7341989" y="2585842"/>
            <a:ext cx="1230511" cy="251817"/>
          </a:xfrm>
          <a:prstGeom prst="rect">
            <a:avLst/>
          </a:prstGeom>
          <a:noFill/>
          <a:ln>
            <a:noFill/>
          </a:ln>
        </p:spPr>
        <p:txBody>
          <a:bodyPr anchorCtr="0" anchor="t" bIns="68050" lIns="102100" spcFirstLastPara="1" rIns="102100" wrap="square" tIns="68050">
            <a:spAutoFit/>
          </a:bodyPr>
          <a:lstStyle/>
          <a:p>
            <a:pPr indent="0" lvl="0" marL="0" marR="0" rtl="0" algn="l">
              <a:spcBef>
                <a:spcPts val="0"/>
              </a:spcBef>
              <a:spcAft>
                <a:spcPts val="0"/>
              </a:spcAft>
              <a:buClr>
                <a:srgbClr val="0A192F"/>
              </a:buClr>
              <a:buSzPts val="800"/>
              <a:buFont typeface="Inter ExtraBold"/>
              <a:buNone/>
            </a:pPr>
            <a:r>
              <a:rPr b="1" i="0" lang="en-US" sz="800" u="none" cap="none" strike="noStrike">
                <a:solidFill>
                  <a:srgbClr val="0A192F"/>
                </a:solidFill>
                <a:latin typeface="Inter ExtraBold"/>
                <a:ea typeface="Inter ExtraBold"/>
                <a:cs typeface="Inter ExtraBold"/>
                <a:sym typeface="Inter ExtraBold"/>
              </a:rPr>
              <a:t>Expert Cyber</a:t>
            </a:r>
            <a:endParaRPr b="0" i="0" sz="800" u="none" cap="none" strike="noStrike">
              <a:solidFill>
                <a:schemeClr val="dk1"/>
              </a:solidFill>
              <a:latin typeface="Calibri"/>
              <a:ea typeface="Calibri"/>
              <a:cs typeface="Calibri"/>
              <a:sym typeface="Calibri"/>
            </a:endParaRPr>
          </a:p>
        </p:txBody>
      </p:sp>
      <p:sp>
        <p:nvSpPr>
          <p:cNvPr id="232" name="Google Shape;232;p9"/>
          <p:cNvSpPr/>
          <p:nvPr/>
        </p:nvSpPr>
        <p:spPr>
          <a:xfrm>
            <a:off x="3650456" y="3189656"/>
            <a:ext cx="169664" cy="20716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B4D8"/>
              </a:buClr>
              <a:buSzPts val="1200"/>
              <a:buFont typeface="Inter ExtraBold"/>
              <a:buNone/>
            </a:pPr>
            <a:r>
              <a:rPr b="1" i="0" lang="en-US" sz="1200" u="none" cap="none" strike="noStrike">
                <a:solidFill>
                  <a:srgbClr val="00B4D8"/>
                </a:solidFill>
                <a:latin typeface="Inter ExtraBold"/>
                <a:ea typeface="Inter ExtraBold"/>
                <a:cs typeface="Inter ExtraBold"/>
                <a:sym typeface="Inter ExtraBold"/>
              </a:rPr>
              <a:t>3.</a:t>
            </a:r>
            <a:endParaRPr b="0" i="0" sz="1200" u="none" cap="none" strike="noStrike">
              <a:solidFill>
                <a:schemeClr val="dk1"/>
              </a:solidFill>
              <a:latin typeface="Calibri"/>
              <a:ea typeface="Calibri"/>
              <a:cs typeface="Calibri"/>
              <a:sym typeface="Calibri"/>
            </a:endParaRPr>
          </a:p>
        </p:txBody>
      </p:sp>
      <p:sp>
        <p:nvSpPr>
          <p:cNvPr id="233" name="Google Shape;233;p9"/>
          <p:cNvSpPr/>
          <p:nvPr/>
        </p:nvSpPr>
        <p:spPr>
          <a:xfrm>
            <a:off x="3891558" y="3215553"/>
            <a:ext cx="553641" cy="1553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B4D8"/>
              </a:buClr>
              <a:buSzPts val="900"/>
              <a:buFont typeface="Inter ExtraBold"/>
              <a:buNone/>
            </a:pPr>
            <a:r>
              <a:rPr b="1" i="0" lang="en-US" sz="900" u="none" cap="none" strike="noStrike">
                <a:solidFill>
                  <a:srgbClr val="00B4D8"/>
                </a:solidFill>
                <a:latin typeface="Inter ExtraBold"/>
                <a:ea typeface="Inter ExtraBold"/>
                <a:cs typeface="Inter ExtraBold"/>
                <a:sym typeface="Inter ExtraBold"/>
              </a:rPr>
              <a:t>Décision</a:t>
            </a:r>
            <a:endParaRPr b="0" i="0" sz="900" u="none" cap="none" strike="noStrike">
              <a:solidFill>
                <a:schemeClr val="dk1"/>
              </a:solidFill>
              <a:latin typeface="Calibri"/>
              <a:ea typeface="Calibri"/>
              <a:cs typeface="Calibri"/>
              <a:sym typeface="Calibri"/>
            </a:endParaRPr>
          </a:p>
        </p:txBody>
      </p:sp>
      <p:sp>
        <p:nvSpPr>
          <p:cNvPr id="234" name="Google Shape;234;p9"/>
          <p:cNvSpPr/>
          <p:nvPr/>
        </p:nvSpPr>
        <p:spPr>
          <a:xfrm>
            <a:off x="4880967" y="3113224"/>
            <a:ext cx="2461022" cy="360034"/>
          </a:xfrm>
          <a:prstGeom prst="rect">
            <a:avLst/>
          </a:prstGeom>
          <a:noFill/>
          <a:ln>
            <a:noFill/>
          </a:ln>
        </p:spPr>
        <p:txBody>
          <a:bodyPr anchorCtr="0" anchor="t" bIns="0" lIns="0" spcFirstLastPara="1" rIns="170050" wrap="square" tIns="0">
            <a:spAutoFit/>
          </a:bodyPr>
          <a:lstStyle/>
          <a:p>
            <a:pPr indent="0" lvl="0" marL="0" marR="0" rtl="0" algn="l">
              <a:lnSpc>
                <a:spcPct val="112000"/>
              </a:lnSpc>
              <a:spcBef>
                <a:spcPts val="0"/>
              </a:spcBef>
              <a:spcAft>
                <a:spcPts val="0"/>
              </a:spcAft>
              <a:buClr>
                <a:srgbClr val="333F58"/>
              </a:buClr>
              <a:buSzPts val="950"/>
              <a:buFont typeface="Inter Light"/>
              <a:buNone/>
            </a:pPr>
            <a:r>
              <a:rPr b="0" i="0" lang="en-US" sz="950" u="none" cap="none" strike="noStrike">
                <a:solidFill>
                  <a:srgbClr val="333F58"/>
                </a:solidFill>
                <a:latin typeface="Inter Light"/>
                <a:ea typeface="Inter Light"/>
                <a:cs typeface="Inter Light"/>
                <a:sym typeface="Inter Light"/>
              </a:rPr>
              <a:t>Confirmation FP ou vrai positif avec justification</a:t>
            </a:r>
            <a:endParaRPr b="0" i="0" sz="950" u="none" cap="none" strike="noStrike">
              <a:solidFill>
                <a:schemeClr val="dk1"/>
              </a:solidFill>
              <a:latin typeface="Calibri"/>
              <a:ea typeface="Calibri"/>
              <a:cs typeface="Calibri"/>
              <a:sym typeface="Calibri"/>
            </a:endParaRPr>
          </a:p>
        </p:txBody>
      </p:sp>
      <p:sp>
        <p:nvSpPr>
          <p:cNvPr id="235" name="Google Shape;235;p9"/>
          <p:cNvSpPr/>
          <p:nvPr/>
        </p:nvSpPr>
        <p:spPr>
          <a:xfrm>
            <a:off x="7341989" y="3167332"/>
            <a:ext cx="1230511" cy="251817"/>
          </a:xfrm>
          <a:prstGeom prst="rect">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9"/>
          <p:cNvSpPr/>
          <p:nvPr/>
        </p:nvSpPr>
        <p:spPr>
          <a:xfrm>
            <a:off x="7341989" y="3167332"/>
            <a:ext cx="1230511" cy="251817"/>
          </a:xfrm>
          <a:prstGeom prst="rect">
            <a:avLst/>
          </a:prstGeom>
          <a:noFill/>
          <a:ln>
            <a:noFill/>
          </a:ln>
        </p:spPr>
        <p:txBody>
          <a:bodyPr anchorCtr="0" anchor="t" bIns="68050" lIns="102100" spcFirstLastPara="1" rIns="102100" wrap="square" tIns="68050">
            <a:spAutoFit/>
          </a:bodyPr>
          <a:lstStyle/>
          <a:p>
            <a:pPr indent="0" lvl="0" marL="0" marR="0" rtl="0" algn="l">
              <a:spcBef>
                <a:spcPts val="0"/>
              </a:spcBef>
              <a:spcAft>
                <a:spcPts val="0"/>
              </a:spcAft>
              <a:buClr>
                <a:srgbClr val="0A192F"/>
              </a:buClr>
              <a:buSzPts val="800"/>
              <a:buFont typeface="Inter ExtraBold"/>
              <a:buNone/>
            </a:pPr>
            <a:r>
              <a:rPr b="1" i="0" lang="en-US" sz="800" u="none" cap="none" strike="noStrike">
                <a:solidFill>
                  <a:srgbClr val="0A192F"/>
                </a:solidFill>
                <a:latin typeface="Inter ExtraBold"/>
                <a:ea typeface="Inter ExtraBold"/>
                <a:cs typeface="Inter ExtraBold"/>
                <a:sym typeface="Inter ExtraBold"/>
              </a:rPr>
              <a:t>Expert Cyber</a:t>
            </a:r>
            <a:endParaRPr b="0" i="0" sz="800" u="none" cap="none" strike="noStrike">
              <a:solidFill>
                <a:schemeClr val="dk1"/>
              </a:solidFill>
              <a:latin typeface="Calibri"/>
              <a:ea typeface="Calibri"/>
              <a:cs typeface="Calibri"/>
              <a:sym typeface="Calibri"/>
            </a:endParaRPr>
          </a:p>
        </p:txBody>
      </p:sp>
      <p:sp>
        <p:nvSpPr>
          <p:cNvPr id="237" name="Google Shape;237;p9"/>
          <p:cNvSpPr/>
          <p:nvPr/>
        </p:nvSpPr>
        <p:spPr>
          <a:xfrm>
            <a:off x="3650456" y="3785797"/>
            <a:ext cx="173236" cy="20716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B4D8"/>
              </a:buClr>
              <a:buSzPts val="1200"/>
              <a:buFont typeface="Inter ExtraBold"/>
              <a:buNone/>
            </a:pPr>
            <a:r>
              <a:rPr b="1" i="0" lang="en-US" sz="1200" u="none" cap="none" strike="noStrike">
                <a:solidFill>
                  <a:srgbClr val="00B4D8"/>
                </a:solidFill>
                <a:latin typeface="Inter ExtraBold"/>
                <a:ea typeface="Inter ExtraBold"/>
                <a:cs typeface="Inter ExtraBold"/>
                <a:sym typeface="Inter ExtraBold"/>
              </a:rPr>
              <a:t>4.</a:t>
            </a:r>
            <a:endParaRPr b="0" i="0" sz="1200" u="none" cap="none" strike="noStrike">
              <a:solidFill>
                <a:schemeClr val="dk1"/>
              </a:solidFill>
              <a:latin typeface="Calibri"/>
              <a:ea typeface="Calibri"/>
              <a:cs typeface="Calibri"/>
              <a:sym typeface="Calibri"/>
            </a:endParaRPr>
          </a:p>
        </p:txBody>
      </p:sp>
      <p:sp>
        <p:nvSpPr>
          <p:cNvPr id="238" name="Google Shape;238;p9"/>
          <p:cNvSpPr/>
          <p:nvPr/>
        </p:nvSpPr>
        <p:spPr>
          <a:xfrm>
            <a:off x="3895130" y="3811693"/>
            <a:ext cx="984052" cy="1553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B4D8"/>
              </a:buClr>
              <a:buSzPts val="900"/>
              <a:buFont typeface="Inter ExtraBold"/>
              <a:buNone/>
            </a:pPr>
            <a:r>
              <a:rPr b="1" i="0" lang="en-US" sz="900" u="none" cap="none" strike="noStrike">
                <a:solidFill>
                  <a:srgbClr val="00B4D8"/>
                </a:solidFill>
                <a:latin typeface="Inter ExtraBold"/>
                <a:ea typeface="Inter ExtraBold"/>
                <a:cs typeface="Inter ExtraBold"/>
                <a:sym typeface="Inter ExtraBold"/>
              </a:rPr>
              <a:t>Documentation</a:t>
            </a:r>
            <a:endParaRPr b="0" i="0" sz="900" u="none" cap="none" strike="noStrike">
              <a:solidFill>
                <a:schemeClr val="dk1"/>
              </a:solidFill>
              <a:latin typeface="Calibri"/>
              <a:ea typeface="Calibri"/>
              <a:cs typeface="Calibri"/>
              <a:sym typeface="Calibri"/>
            </a:endParaRPr>
          </a:p>
        </p:txBody>
      </p:sp>
      <p:sp>
        <p:nvSpPr>
          <p:cNvPr id="239" name="Google Shape;239;p9"/>
          <p:cNvSpPr/>
          <p:nvPr/>
        </p:nvSpPr>
        <p:spPr>
          <a:xfrm>
            <a:off x="4880967" y="3709364"/>
            <a:ext cx="2461022" cy="360034"/>
          </a:xfrm>
          <a:prstGeom prst="rect">
            <a:avLst/>
          </a:prstGeom>
          <a:noFill/>
          <a:ln>
            <a:noFill/>
          </a:ln>
        </p:spPr>
        <p:txBody>
          <a:bodyPr anchorCtr="0" anchor="t" bIns="0" lIns="0" spcFirstLastPara="1" rIns="170050" wrap="square" tIns="0">
            <a:spAutoFit/>
          </a:bodyPr>
          <a:lstStyle/>
          <a:p>
            <a:pPr indent="0" lvl="0" marL="0" marR="0" rtl="0" algn="l">
              <a:lnSpc>
                <a:spcPct val="112000"/>
              </a:lnSpc>
              <a:spcBef>
                <a:spcPts val="0"/>
              </a:spcBef>
              <a:spcAft>
                <a:spcPts val="0"/>
              </a:spcAft>
              <a:buClr>
                <a:srgbClr val="333F58"/>
              </a:buClr>
              <a:buSzPts val="950"/>
              <a:buFont typeface="Inter Light"/>
              <a:buNone/>
            </a:pPr>
            <a:r>
              <a:rPr b="0" i="0" lang="en-US" sz="950" u="none" cap="none" strike="noStrike">
                <a:solidFill>
                  <a:srgbClr val="333F58"/>
                </a:solidFill>
                <a:latin typeface="Inter Light"/>
                <a:ea typeface="Inter Light"/>
                <a:cs typeface="Inter Light"/>
                <a:sym typeface="Inter Light"/>
              </a:rPr>
              <a:t>Enregistrement de l'exception avec justification métier</a:t>
            </a:r>
            <a:endParaRPr b="0" i="0" sz="950" u="none" cap="none" strike="noStrike">
              <a:solidFill>
                <a:schemeClr val="dk1"/>
              </a:solidFill>
              <a:latin typeface="Calibri"/>
              <a:ea typeface="Calibri"/>
              <a:cs typeface="Calibri"/>
              <a:sym typeface="Calibri"/>
            </a:endParaRPr>
          </a:p>
        </p:txBody>
      </p:sp>
      <p:sp>
        <p:nvSpPr>
          <p:cNvPr id="240" name="Google Shape;240;p9"/>
          <p:cNvSpPr/>
          <p:nvPr/>
        </p:nvSpPr>
        <p:spPr>
          <a:xfrm>
            <a:off x="7341989" y="3694714"/>
            <a:ext cx="1230511" cy="389334"/>
          </a:xfrm>
          <a:prstGeom prst="rect">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9"/>
          <p:cNvSpPr/>
          <p:nvPr/>
        </p:nvSpPr>
        <p:spPr>
          <a:xfrm>
            <a:off x="7341989" y="3694714"/>
            <a:ext cx="1230511" cy="389334"/>
          </a:xfrm>
          <a:prstGeom prst="rect">
            <a:avLst/>
          </a:prstGeom>
          <a:noFill/>
          <a:ln>
            <a:noFill/>
          </a:ln>
        </p:spPr>
        <p:txBody>
          <a:bodyPr anchorCtr="0" anchor="t" bIns="68050" lIns="102100" spcFirstLastPara="1" rIns="102100" wrap="square" tIns="68050">
            <a:spAutoFit/>
          </a:bodyPr>
          <a:lstStyle/>
          <a:p>
            <a:pPr indent="0" lvl="0" marL="0" marR="0" rtl="0" algn="l">
              <a:spcBef>
                <a:spcPts val="0"/>
              </a:spcBef>
              <a:spcAft>
                <a:spcPts val="0"/>
              </a:spcAft>
              <a:buClr>
                <a:srgbClr val="0A192F"/>
              </a:buClr>
              <a:buSzPts val="800"/>
              <a:buFont typeface="Inter ExtraBold"/>
              <a:buNone/>
            </a:pPr>
            <a:r>
              <a:rPr b="1" i="0" lang="en-US" sz="800" u="none" cap="none" strike="noStrike">
                <a:solidFill>
                  <a:srgbClr val="0A192F"/>
                </a:solidFill>
                <a:latin typeface="Inter ExtraBold"/>
                <a:ea typeface="Inter ExtraBold"/>
                <a:cs typeface="Inter ExtraBold"/>
                <a:sym typeface="Inter ExtraBold"/>
              </a:rPr>
              <a:t>Expert Cyber + Dev</a:t>
            </a:r>
            <a:endParaRPr b="0" i="0" sz="800" u="none" cap="none" strike="noStrike">
              <a:solidFill>
                <a:schemeClr val="dk1"/>
              </a:solidFill>
              <a:latin typeface="Calibri"/>
              <a:ea typeface="Calibri"/>
              <a:cs typeface="Calibri"/>
              <a:sym typeface="Calibri"/>
            </a:endParaRPr>
          </a:p>
        </p:txBody>
      </p:sp>
      <p:sp>
        <p:nvSpPr>
          <p:cNvPr id="242" name="Google Shape;242;p9"/>
          <p:cNvSpPr/>
          <p:nvPr/>
        </p:nvSpPr>
        <p:spPr>
          <a:xfrm>
            <a:off x="3650456" y="4381937"/>
            <a:ext cx="166092" cy="20716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B4D8"/>
              </a:buClr>
              <a:buSzPts val="1200"/>
              <a:buFont typeface="Inter ExtraBold"/>
              <a:buNone/>
            </a:pPr>
            <a:r>
              <a:rPr b="1" i="0" lang="en-US" sz="1200" u="none" cap="none" strike="noStrike">
                <a:solidFill>
                  <a:srgbClr val="00B4D8"/>
                </a:solidFill>
                <a:latin typeface="Inter ExtraBold"/>
                <a:ea typeface="Inter ExtraBold"/>
                <a:cs typeface="Inter ExtraBold"/>
                <a:sym typeface="Inter ExtraBold"/>
              </a:rPr>
              <a:t>5.</a:t>
            </a:r>
            <a:endParaRPr b="0" i="0" sz="1200" u="none" cap="none" strike="noStrike">
              <a:solidFill>
                <a:schemeClr val="dk1"/>
              </a:solidFill>
              <a:latin typeface="Calibri"/>
              <a:ea typeface="Calibri"/>
              <a:cs typeface="Calibri"/>
              <a:sym typeface="Calibri"/>
            </a:endParaRPr>
          </a:p>
        </p:txBody>
      </p:sp>
      <p:sp>
        <p:nvSpPr>
          <p:cNvPr id="243" name="Google Shape;243;p9"/>
          <p:cNvSpPr/>
          <p:nvPr/>
        </p:nvSpPr>
        <p:spPr>
          <a:xfrm>
            <a:off x="3887986" y="4407833"/>
            <a:ext cx="317897" cy="1553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B4D8"/>
              </a:buClr>
              <a:buSzPts val="900"/>
              <a:buFont typeface="Inter ExtraBold"/>
              <a:buNone/>
            </a:pPr>
            <a:r>
              <a:rPr b="1" i="0" lang="en-US" sz="900" u="none" cap="none" strike="noStrike">
                <a:solidFill>
                  <a:srgbClr val="00B4D8"/>
                </a:solidFill>
                <a:latin typeface="Inter ExtraBold"/>
                <a:ea typeface="Inter ExtraBold"/>
                <a:cs typeface="Inter ExtraBold"/>
                <a:sym typeface="Inter ExtraBold"/>
              </a:rPr>
              <a:t>Suivi</a:t>
            </a:r>
            <a:endParaRPr b="0" i="0" sz="900" u="none" cap="none" strike="noStrike">
              <a:solidFill>
                <a:schemeClr val="dk1"/>
              </a:solidFill>
              <a:latin typeface="Calibri"/>
              <a:ea typeface="Calibri"/>
              <a:cs typeface="Calibri"/>
              <a:sym typeface="Calibri"/>
            </a:endParaRPr>
          </a:p>
        </p:txBody>
      </p:sp>
      <p:sp>
        <p:nvSpPr>
          <p:cNvPr id="244" name="Google Shape;244;p9"/>
          <p:cNvSpPr/>
          <p:nvPr/>
        </p:nvSpPr>
        <p:spPr>
          <a:xfrm>
            <a:off x="4880967" y="4305505"/>
            <a:ext cx="2461022" cy="360034"/>
          </a:xfrm>
          <a:prstGeom prst="rect">
            <a:avLst/>
          </a:prstGeom>
          <a:noFill/>
          <a:ln>
            <a:noFill/>
          </a:ln>
        </p:spPr>
        <p:txBody>
          <a:bodyPr anchorCtr="0" anchor="t" bIns="0" lIns="0" spcFirstLastPara="1" rIns="170050" wrap="square" tIns="0">
            <a:spAutoFit/>
          </a:bodyPr>
          <a:lstStyle/>
          <a:p>
            <a:pPr indent="0" lvl="0" marL="0" marR="0" rtl="0" algn="l">
              <a:lnSpc>
                <a:spcPct val="112000"/>
              </a:lnSpc>
              <a:spcBef>
                <a:spcPts val="0"/>
              </a:spcBef>
              <a:spcAft>
                <a:spcPts val="0"/>
              </a:spcAft>
              <a:buClr>
                <a:srgbClr val="333F58"/>
              </a:buClr>
              <a:buSzPts val="950"/>
              <a:buFont typeface="Inter Light"/>
              <a:buNone/>
            </a:pPr>
            <a:r>
              <a:rPr b="0" i="0" lang="en-US" sz="950" u="none" cap="none" strike="noStrike">
                <a:solidFill>
                  <a:srgbClr val="333F58"/>
                </a:solidFill>
                <a:latin typeface="Inter Light"/>
                <a:ea typeface="Inter Light"/>
                <a:cs typeface="Inter Light"/>
                <a:sym typeface="Inter Light"/>
              </a:rPr>
              <a:t>Réévaluation périodique des exceptions accordées</a:t>
            </a:r>
            <a:endParaRPr b="0" i="0" sz="950" u="none" cap="none" strike="noStrike">
              <a:solidFill>
                <a:schemeClr val="dk1"/>
              </a:solidFill>
              <a:latin typeface="Calibri"/>
              <a:ea typeface="Calibri"/>
              <a:cs typeface="Calibri"/>
              <a:sym typeface="Calibri"/>
            </a:endParaRPr>
          </a:p>
        </p:txBody>
      </p:sp>
      <p:sp>
        <p:nvSpPr>
          <p:cNvPr id="245" name="Google Shape;245;p9"/>
          <p:cNvSpPr/>
          <p:nvPr/>
        </p:nvSpPr>
        <p:spPr>
          <a:xfrm>
            <a:off x="7341989" y="4359613"/>
            <a:ext cx="1230511" cy="251817"/>
          </a:xfrm>
          <a:prstGeom prst="rect">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9"/>
          <p:cNvSpPr/>
          <p:nvPr/>
        </p:nvSpPr>
        <p:spPr>
          <a:xfrm>
            <a:off x="7341989" y="4359613"/>
            <a:ext cx="1230511" cy="251817"/>
          </a:xfrm>
          <a:prstGeom prst="rect">
            <a:avLst/>
          </a:prstGeom>
          <a:noFill/>
          <a:ln>
            <a:noFill/>
          </a:ln>
        </p:spPr>
        <p:txBody>
          <a:bodyPr anchorCtr="0" anchor="t" bIns="68050" lIns="102100" spcFirstLastPara="1" rIns="102100" wrap="square" tIns="68050">
            <a:spAutoFit/>
          </a:bodyPr>
          <a:lstStyle/>
          <a:p>
            <a:pPr indent="0" lvl="0" marL="0" marR="0" rtl="0" algn="l">
              <a:spcBef>
                <a:spcPts val="0"/>
              </a:spcBef>
              <a:spcAft>
                <a:spcPts val="0"/>
              </a:spcAft>
              <a:buClr>
                <a:srgbClr val="0A192F"/>
              </a:buClr>
              <a:buSzPts val="800"/>
              <a:buFont typeface="Inter ExtraBold"/>
              <a:buNone/>
            </a:pPr>
            <a:r>
              <a:rPr b="1" i="0" lang="en-US" sz="800" u="none" cap="none" strike="noStrike">
                <a:solidFill>
                  <a:srgbClr val="0A192F"/>
                </a:solidFill>
                <a:latin typeface="Inter ExtraBold"/>
                <a:ea typeface="Inter ExtraBold"/>
                <a:cs typeface="Inter ExtraBold"/>
                <a:sym typeface="Inter ExtraBold"/>
              </a:rPr>
              <a:t>Expert Cyber</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pic>
        <p:nvPicPr>
          <p:cNvPr descr="preencoded.png" id="252" name="Google Shape;252;p1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53" name="Google Shape;253;p11"/>
          <p:cNvSpPr/>
          <p:nvPr/>
        </p:nvSpPr>
        <p:spPr>
          <a:xfrm>
            <a:off x="0" y="0"/>
            <a:ext cx="9144000" cy="805458"/>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1"/>
          <p:cNvSpPr/>
          <p:nvPr/>
        </p:nvSpPr>
        <p:spPr>
          <a:xfrm>
            <a:off x="0" y="776883"/>
            <a:ext cx="9144000" cy="28575"/>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1"/>
          <p:cNvSpPr/>
          <p:nvPr/>
        </p:nvSpPr>
        <p:spPr>
          <a:xfrm>
            <a:off x="571500" y="357188"/>
            <a:ext cx="8001000" cy="2768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A192F"/>
              </a:buClr>
              <a:buSzPts val="1600"/>
              <a:buFont typeface="Inter ExtraBold"/>
              <a:buNone/>
            </a:pPr>
            <a:r>
              <a:rPr b="1" i="0" lang="en-US" sz="1600" u="none" cap="none" strike="noStrike">
                <a:solidFill>
                  <a:srgbClr val="0A192F"/>
                </a:solidFill>
                <a:latin typeface="Inter ExtraBold"/>
                <a:ea typeface="Inter ExtraBold"/>
                <a:cs typeface="Inter ExtraBold"/>
                <a:sym typeface="Inter ExtraBold"/>
              </a:rPr>
              <a:t>Roadmap : Calendrier de déploiement de l'offre</a:t>
            </a:r>
            <a:endParaRPr b="0" i="0" sz="1600" u="none" cap="none" strike="noStrike">
              <a:solidFill>
                <a:schemeClr val="dk1"/>
              </a:solidFill>
              <a:latin typeface="Calibri"/>
              <a:ea typeface="Calibri"/>
              <a:cs typeface="Calibri"/>
              <a:sym typeface="Calibri"/>
            </a:endParaRPr>
          </a:p>
        </p:txBody>
      </p:sp>
      <p:sp>
        <p:nvSpPr>
          <p:cNvPr id="256" name="Google Shape;256;p11"/>
          <p:cNvSpPr/>
          <p:nvPr/>
        </p:nvSpPr>
        <p:spPr>
          <a:xfrm>
            <a:off x="571500" y="1062633"/>
            <a:ext cx="1600200" cy="173236"/>
          </a:xfrm>
          <a:prstGeom prst="rect">
            <a:avLst/>
          </a:prstGeom>
          <a:noFill/>
          <a:ln>
            <a:noFill/>
          </a:ln>
        </p:spPr>
        <p:txBody>
          <a:bodyPr anchorCtr="0" anchor="t" bIns="0" lIns="0" spcFirstLastPara="1" rIns="170050" wrap="square" tIns="0">
            <a:spAutoFit/>
          </a:bodyPr>
          <a:lstStyle/>
          <a:p>
            <a:pPr indent="0" lvl="0" marL="0" marR="0" rtl="0" algn="l">
              <a:spcBef>
                <a:spcPts val="0"/>
              </a:spcBef>
              <a:spcAft>
                <a:spcPts val="0"/>
              </a:spcAft>
              <a:buClr>
                <a:srgbClr val="0A192F"/>
              </a:buClr>
              <a:buSzPts val="1000"/>
              <a:buFont typeface="Inter ExtraBold"/>
              <a:buNone/>
            </a:pPr>
            <a:r>
              <a:rPr b="1" i="0" lang="en-US" sz="1000" u="none" cap="none" strike="noStrike">
                <a:solidFill>
                  <a:srgbClr val="0A192F"/>
                </a:solidFill>
                <a:latin typeface="Inter ExtraBold"/>
                <a:ea typeface="Inter ExtraBold"/>
                <a:cs typeface="Inter ExtraBold"/>
                <a:sym typeface="Inter ExtraBold"/>
              </a:rPr>
              <a:t>HORIZON</a:t>
            </a:r>
            <a:endParaRPr b="0" i="0" sz="1000" u="none" cap="none" strike="noStrike">
              <a:solidFill>
                <a:schemeClr val="dk1"/>
              </a:solidFill>
              <a:latin typeface="Calibri"/>
              <a:ea typeface="Calibri"/>
              <a:cs typeface="Calibri"/>
              <a:sym typeface="Calibri"/>
            </a:endParaRPr>
          </a:p>
        </p:txBody>
      </p:sp>
      <p:sp>
        <p:nvSpPr>
          <p:cNvPr id="257" name="Google Shape;257;p11"/>
          <p:cNvSpPr/>
          <p:nvPr/>
        </p:nvSpPr>
        <p:spPr>
          <a:xfrm>
            <a:off x="2171700" y="1062633"/>
            <a:ext cx="6400800" cy="17323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A192F"/>
              </a:buClr>
              <a:buSzPts val="1000"/>
              <a:buFont typeface="Inter ExtraBold"/>
              <a:buNone/>
            </a:pPr>
            <a:r>
              <a:rPr b="1" i="0" lang="en-US" sz="1000" u="none" cap="none" strike="noStrike">
                <a:solidFill>
                  <a:srgbClr val="0A192F"/>
                </a:solidFill>
                <a:latin typeface="Inter ExtraBold"/>
                <a:ea typeface="Inter ExtraBold"/>
                <a:cs typeface="Inter ExtraBold"/>
                <a:sym typeface="Inter ExtraBold"/>
              </a:rPr>
              <a:t>JALON CLÉ</a:t>
            </a:r>
            <a:endParaRPr b="0" i="0" sz="1000" u="none" cap="none" strike="noStrike">
              <a:solidFill>
                <a:schemeClr val="dk1"/>
              </a:solidFill>
              <a:latin typeface="Calibri"/>
              <a:ea typeface="Calibri"/>
              <a:cs typeface="Calibri"/>
              <a:sym typeface="Calibri"/>
            </a:endParaRPr>
          </a:p>
        </p:txBody>
      </p:sp>
      <p:sp>
        <p:nvSpPr>
          <p:cNvPr id="258" name="Google Shape;258;p11"/>
          <p:cNvSpPr/>
          <p:nvPr/>
        </p:nvSpPr>
        <p:spPr>
          <a:xfrm>
            <a:off x="571500" y="1677888"/>
            <a:ext cx="1600200" cy="173236"/>
          </a:xfrm>
          <a:prstGeom prst="rect">
            <a:avLst/>
          </a:prstGeom>
          <a:noFill/>
          <a:ln>
            <a:noFill/>
          </a:ln>
        </p:spPr>
        <p:txBody>
          <a:bodyPr anchorCtr="0" anchor="t" bIns="0" lIns="0" spcFirstLastPara="1" rIns="170050" wrap="square" tIns="0">
            <a:spAutoFit/>
          </a:bodyPr>
          <a:lstStyle/>
          <a:p>
            <a:pPr indent="0" lvl="0" marL="0" marR="0" rtl="0" algn="l">
              <a:spcBef>
                <a:spcPts val="0"/>
              </a:spcBef>
              <a:spcAft>
                <a:spcPts val="0"/>
              </a:spcAft>
              <a:buClr>
                <a:srgbClr val="F4A261"/>
              </a:buClr>
              <a:buSzPts val="1000"/>
              <a:buFont typeface="Inter ExtraBold"/>
              <a:buNone/>
            </a:pPr>
            <a:r>
              <a:rPr b="1" i="0" lang="en-US" sz="1000" u="none" cap="none" strike="noStrike">
                <a:solidFill>
                  <a:srgbClr val="F4A261"/>
                </a:solidFill>
                <a:latin typeface="Inter ExtraBold"/>
                <a:ea typeface="Inter ExtraBold"/>
                <a:cs typeface="Inter ExtraBold"/>
                <a:sym typeface="Inter ExtraBold"/>
              </a:rPr>
              <a:t>T2 2026</a:t>
            </a:r>
            <a:endParaRPr b="0" i="0" sz="1000" u="none" cap="none" strike="noStrike">
              <a:solidFill>
                <a:schemeClr val="dk1"/>
              </a:solidFill>
              <a:latin typeface="Calibri"/>
              <a:ea typeface="Calibri"/>
              <a:cs typeface="Calibri"/>
              <a:sym typeface="Calibri"/>
            </a:endParaRPr>
          </a:p>
        </p:txBody>
      </p:sp>
      <p:sp>
        <p:nvSpPr>
          <p:cNvPr id="259" name="Google Shape;259;p11"/>
          <p:cNvSpPr/>
          <p:nvPr/>
        </p:nvSpPr>
        <p:spPr>
          <a:xfrm>
            <a:off x="2171700" y="1657350"/>
            <a:ext cx="6400800" cy="214313"/>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333F58"/>
              </a:buClr>
              <a:buSzPts val="1050"/>
              <a:buFont typeface="Inter Light"/>
              <a:buNone/>
            </a:pPr>
            <a:r>
              <a:rPr b="0" i="0" lang="en-US" sz="1050" u="none" cap="none" strike="noStrike">
                <a:solidFill>
                  <a:srgbClr val="333F58"/>
                </a:solidFill>
                <a:latin typeface="Inter Light"/>
                <a:ea typeface="Inter Light"/>
                <a:cs typeface="Inter Light"/>
                <a:sym typeface="Inter Light"/>
              </a:rPr>
              <a:t>Ouverture de la souscription pour les projets pilotes.</a:t>
            </a:r>
            <a:endParaRPr b="0" i="0" sz="1050" u="none" cap="none" strike="noStrike">
              <a:solidFill>
                <a:schemeClr val="dk1"/>
              </a:solidFill>
              <a:latin typeface="Calibri"/>
              <a:ea typeface="Calibri"/>
              <a:cs typeface="Calibri"/>
              <a:sym typeface="Calibri"/>
            </a:endParaRPr>
          </a:p>
        </p:txBody>
      </p:sp>
      <p:sp>
        <p:nvSpPr>
          <p:cNvPr id="260" name="Google Shape;260;p11"/>
          <p:cNvSpPr/>
          <p:nvPr/>
        </p:nvSpPr>
        <p:spPr>
          <a:xfrm>
            <a:off x="571500" y="2185095"/>
            <a:ext cx="1600200" cy="173236"/>
          </a:xfrm>
          <a:prstGeom prst="rect">
            <a:avLst/>
          </a:prstGeom>
          <a:noFill/>
          <a:ln>
            <a:noFill/>
          </a:ln>
        </p:spPr>
        <p:txBody>
          <a:bodyPr anchorCtr="0" anchor="t" bIns="0" lIns="0" spcFirstLastPara="1" rIns="170050" wrap="square" tIns="0">
            <a:spAutoFit/>
          </a:bodyPr>
          <a:lstStyle/>
          <a:p>
            <a:pPr indent="0" lvl="0" marL="0" marR="0" rtl="0" algn="l">
              <a:spcBef>
                <a:spcPts val="0"/>
              </a:spcBef>
              <a:spcAft>
                <a:spcPts val="0"/>
              </a:spcAft>
              <a:buClr>
                <a:srgbClr val="F4A261"/>
              </a:buClr>
              <a:buSzPts val="1000"/>
              <a:buFont typeface="Inter ExtraBold"/>
              <a:buNone/>
            </a:pPr>
            <a:r>
              <a:rPr b="1" i="0" lang="en-US" sz="1000" u="none" cap="none" strike="noStrike">
                <a:solidFill>
                  <a:srgbClr val="F4A261"/>
                </a:solidFill>
                <a:latin typeface="Inter ExtraBold"/>
                <a:ea typeface="Inter ExtraBold"/>
                <a:cs typeface="Inter ExtraBold"/>
                <a:sym typeface="Inter ExtraBold"/>
              </a:rPr>
              <a:t>T3 2026</a:t>
            </a:r>
            <a:endParaRPr b="0" i="0" sz="1000" u="none" cap="none" strike="noStrike">
              <a:solidFill>
                <a:schemeClr val="dk1"/>
              </a:solidFill>
              <a:latin typeface="Calibri"/>
              <a:ea typeface="Calibri"/>
              <a:cs typeface="Calibri"/>
              <a:sym typeface="Calibri"/>
            </a:endParaRPr>
          </a:p>
        </p:txBody>
      </p:sp>
      <p:sp>
        <p:nvSpPr>
          <p:cNvPr id="261" name="Google Shape;261;p11"/>
          <p:cNvSpPr/>
          <p:nvPr/>
        </p:nvSpPr>
        <p:spPr>
          <a:xfrm>
            <a:off x="2171700" y="2164556"/>
            <a:ext cx="6400800" cy="214313"/>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333F58"/>
              </a:buClr>
              <a:buSzPts val="1050"/>
              <a:buFont typeface="Inter Light"/>
              <a:buNone/>
            </a:pPr>
            <a:r>
              <a:rPr b="0" i="0" lang="en-US" sz="1050" u="none" cap="none" strike="noStrike">
                <a:solidFill>
                  <a:srgbClr val="333F58"/>
                </a:solidFill>
                <a:latin typeface="Inter Light"/>
                <a:ea typeface="Inter Light"/>
                <a:cs typeface="Inter Light"/>
                <a:sym typeface="Inter Light"/>
              </a:rPr>
              <a:t>Généralisation de l'offre en lien avec l'activation globale des Security Gates.</a:t>
            </a:r>
            <a:endParaRPr b="0" i="0" sz="1050" u="none" cap="none" strike="noStrike">
              <a:solidFill>
                <a:schemeClr val="dk1"/>
              </a:solidFill>
              <a:latin typeface="Calibri"/>
              <a:ea typeface="Calibri"/>
              <a:cs typeface="Calibri"/>
              <a:sym typeface="Calibri"/>
            </a:endParaRPr>
          </a:p>
        </p:txBody>
      </p:sp>
      <p:sp>
        <p:nvSpPr>
          <p:cNvPr id="262" name="Google Shape;262;p11"/>
          <p:cNvSpPr/>
          <p:nvPr/>
        </p:nvSpPr>
        <p:spPr>
          <a:xfrm>
            <a:off x="571500" y="2692301"/>
            <a:ext cx="1600200" cy="173236"/>
          </a:xfrm>
          <a:prstGeom prst="rect">
            <a:avLst/>
          </a:prstGeom>
          <a:noFill/>
          <a:ln>
            <a:noFill/>
          </a:ln>
        </p:spPr>
        <p:txBody>
          <a:bodyPr anchorCtr="0" anchor="t" bIns="0" lIns="0" spcFirstLastPara="1" rIns="170050" wrap="square" tIns="0">
            <a:spAutoFit/>
          </a:bodyPr>
          <a:lstStyle/>
          <a:p>
            <a:pPr indent="0" lvl="0" marL="0" marR="0" rtl="0" algn="l">
              <a:spcBef>
                <a:spcPts val="0"/>
              </a:spcBef>
              <a:spcAft>
                <a:spcPts val="0"/>
              </a:spcAft>
              <a:buClr>
                <a:srgbClr val="F4A261"/>
              </a:buClr>
              <a:buSzPts val="1000"/>
              <a:buFont typeface="Inter ExtraBold"/>
              <a:buNone/>
            </a:pPr>
            <a:r>
              <a:rPr b="1" i="0" lang="en-US" sz="1000" u="none" cap="none" strike="noStrike">
                <a:solidFill>
                  <a:srgbClr val="F4A261"/>
                </a:solidFill>
                <a:latin typeface="Inter ExtraBold"/>
                <a:ea typeface="Inter ExtraBold"/>
                <a:cs typeface="Inter ExtraBold"/>
                <a:sym typeface="Inter ExtraBold"/>
              </a:rPr>
              <a:t>T3 2026</a:t>
            </a:r>
            <a:endParaRPr b="0" i="0" sz="1000" u="none" cap="none" strike="noStrike">
              <a:solidFill>
                <a:schemeClr val="dk1"/>
              </a:solidFill>
              <a:latin typeface="Calibri"/>
              <a:ea typeface="Calibri"/>
              <a:cs typeface="Calibri"/>
              <a:sym typeface="Calibri"/>
            </a:endParaRPr>
          </a:p>
        </p:txBody>
      </p:sp>
      <p:sp>
        <p:nvSpPr>
          <p:cNvPr id="263" name="Google Shape;263;p11"/>
          <p:cNvSpPr/>
          <p:nvPr/>
        </p:nvSpPr>
        <p:spPr>
          <a:xfrm>
            <a:off x="2171700" y="2671763"/>
            <a:ext cx="6400800" cy="214313"/>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333F58"/>
              </a:buClr>
              <a:buSzPts val="1050"/>
              <a:buFont typeface="Inter Light"/>
              <a:buNone/>
            </a:pPr>
            <a:r>
              <a:rPr b="0" i="0" lang="en-US" sz="1050" u="none" cap="none" strike="noStrike">
                <a:solidFill>
                  <a:srgbClr val="333F58"/>
                </a:solidFill>
                <a:latin typeface="Inter Light"/>
                <a:ea typeface="Inter Light"/>
                <a:cs typeface="Inter Light"/>
                <a:sym typeface="Inter Light"/>
              </a:rPr>
              <a:t>Lancement du catalogue de formations et de la base de connaissances self-service.</a:t>
            </a:r>
            <a:endParaRPr b="0" i="0" sz="1050" u="none" cap="none" strike="noStrike">
              <a:solidFill>
                <a:schemeClr val="dk1"/>
              </a:solidFill>
              <a:latin typeface="Calibri"/>
              <a:ea typeface="Calibri"/>
              <a:cs typeface="Calibri"/>
              <a:sym typeface="Calibri"/>
            </a:endParaRPr>
          </a:p>
        </p:txBody>
      </p:sp>
      <p:sp>
        <p:nvSpPr>
          <p:cNvPr id="264" name="Google Shape;264;p11"/>
          <p:cNvSpPr/>
          <p:nvPr/>
        </p:nvSpPr>
        <p:spPr>
          <a:xfrm>
            <a:off x="571500" y="3199507"/>
            <a:ext cx="1600200" cy="173236"/>
          </a:xfrm>
          <a:prstGeom prst="rect">
            <a:avLst/>
          </a:prstGeom>
          <a:noFill/>
          <a:ln>
            <a:noFill/>
          </a:ln>
        </p:spPr>
        <p:txBody>
          <a:bodyPr anchorCtr="0" anchor="t" bIns="0" lIns="0" spcFirstLastPara="1" rIns="170050" wrap="square" tIns="0">
            <a:spAutoFit/>
          </a:bodyPr>
          <a:lstStyle/>
          <a:p>
            <a:pPr indent="0" lvl="0" marL="0" marR="0" rtl="0" algn="l">
              <a:spcBef>
                <a:spcPts val="0"/>
              </a:spcBef>
              <a:spcAft>
                <a:spcPts val="0"/>
              </a:spcAft>
              <a:buClr>
                <a:srgbClr val="F4A261"/>
              </a:buClr>
              <a:buSzPts val="1000"/>
              <a:buFont typeface="Inter ExtraBold"/>
              <a:buNone/>
            </a:pPr>
            <a:r>
              <a:rPr b="1" i="0" lang="en-US" sz="1000" u="none" cap="none" strike="noStrike">
                <a:solidFill>
                  <a:srgbClr val="F4A261"/>
                </a:solidFill>
                <a:latin typeface="Inter ExtraBold"/>
                <a:ea typeface="Inter ExtraBold"/>
                <a:cs typeface="Inter ExtraBold"/>
                <a:sym typeface="Inter ExtraBold"/>
              </a:rPr>
              <a:t>T4 2026</a:t>
            </a:r>
            <a:endParaRPr b="0" i="0" sz="1000" u="none" cap="none" strike="noStrike">
              <a:solidFill>
                <a:schemeClr val="dk1"/>
              </a:solidFill>
              <a:latin typeface="Calibri"/>
              <a:ea typeface="Calibri"/>
              <a:cs typeface="Calibri"/>
              <a:sym typeface="Calibri"/>
            </a:endParaRPr>
          </a:p>
        </p:txBody>
      </p:sp>
      <p:sp>
        <p:nvSpPr>
          <p:cNvPr id="265" name="Google Shape;265;p11"/>
          <p:cNvSpPr/>
          <p:nvPr/>
        </p:nvSpPr>
        <p:spPr>
          <a:xfrm>
            <a:off x="2171700" y="3178969"/>
            <a:ext cx="6400800" cy="214313"/>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333F58"/>
              </a:buClr>
              <a:buSzPts val="1050"/>
              <a:buFont typeface="Inter Light"/>
              <a:buNone/>
            </a:pPr>
            <a:r>
              <a:rPr b="0" i="0" lang="en-US" sz="1050" u="none" cap="none" strike="noStrike">
                <a:solidFill>
                  <a:srgbClr val="333F58"/>
                </a:solidFill>
                <a:latin typeface="Inter Light"/>
                <a:ea typeface="Inter Light"/>
                <a:cs typeface="Inter Light"/>
                <a:sym typeface="Inter Light"/>
              </a:rPr>
              <a:t>Mise en place des tableaux de bord de suivi de la dette sécurité par équipe.</a:t>
            </a:r>
            <a:endParaRPr b="0" i="0" sz="1050" u="none" cap="none" strike="noStrike">
              <a:solidFill>
                <a:schemeClr val="dk1"/>
              </a:solidFill>
              <a:latin typeface="Calibri"/>
              <a:ea typeface="Calibri"/>
              <a:cs typeface="Calibri"/>
              <a:sym typeface="Calibri"/>
            </a:endParaRPr>
          </a:p>
        </p:txBody>
      </p:sp>
      <p:sp>
        <p:nvSpPr>
          <p:cNvPr id="266" name="Google Shape;266;p11"/>
          <p:cNvSpPr/>
          <p:nvPr/>
        </p:nvSpPr>
        <p:spPr>
          <a:xfrm>
            <a:off x="571500" y="4600575"/>
            <a:ext cx="8001000" cy="2571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333F58"/>
              </a:buClr>
              <a:buSzPts val="1250"/>
              <a:buFont typeface="Inter Light"/>
              <a:buNone/>
            </a:pPr>
            <a:r>
              <a:rPr b="0" i="0" lang="en-US" sz="1250" u="none" cap="none" strike="noStrike">
                <a:solidFill>
                  <a:srgbClr val="333F58"/>
                </a:solidFill>
                <a:latin typeface="Inter Light"/>
                <a:ea typeface="Inter Light"/>
                <a:cs typeface="Inter Light"/>
                <a:sym typeface="Inter Light"/>
              </a:rPr>
              <a:t>L'objectif est d'atteindre une couverture complète des projets critiques d'ici </a:t>
            </a:r>
            <a:r>
              <a:rPr b="1" i="0" lang="en-US" sz="1200" u="none" cap="none" strike="noStrike">
                <a:solidFill>
                  <a:srgbClr val="0A192F"/>
                </a:solidFill>
                <a:latin typeface="Inter ExtraBold"/>
                <a:ea typeface="Inter ExtraBold"/>
                <a:cs typeface="Inter ExtraBold"/>
                <a:sym typeface="Inter ExtraBold"/>
              </a:rPr>
              <a:t>fin 2026</a:t>
            </a:r>
            <a:r>
              <a:rPr b="0" i="0" lang="en-US" sz="1250" u="none" cap="none" strike="noStrike">
                <a:solidFill>
                  <a:srgbClr val="333F58"/>
                </a:solidFill>
                <a:latin typeface="Inter Light"/>
                <a:ea typeface="Inter Light"/>
                <a:cs typeface="Inter Light"/>
                <a:sym typeface="Inter Light"/>
              </a:rPr>
              <a:t>.</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pic>
        <p:nvPicPr>
          <p:cNvPr descr="preencoded.png" id="272" name="Google Shape;272;p12"/>
          <p:cNvPicPr preferRelativeResize="0"/>
          <p:nvPr/>
        </p:nvPicPr>
        <p:blipFill rotWithShape="1">
          <a:blip r:embed="rId3">
            <a:alphaModFix/>
          </a:blip>
          <a:srcRect b="0" l="0" r="0" t="0"/>
          <a:stretch/>
        </p:blipFill>
        <p:spPr>
          <a:xfrm>
            <a:off x="0" y="0"/>
            <a:ext cx="9144000" cy="5183125"/>
          </a:xfrm>
          <a:prstGeom prst="rect">
            <a:avLst/>
          </a:prstGeom>
          <a:noFill/>
          <a:ln>
            <a:noFill/>
          </a:ln>
        </p:spPr>
      </p:pic>
      <p:sp>
        <p:nvSpPr>
          <p:cNvPr id="273" name="Google Shape;273;p12"/>
          <p:cNvSpPr/>
          <p:nvPr/>
        </p:nvSpPr>
        <p:spPr>
          <a:xfrm>
            <a:off x="0" y="0"/>
            <a:ext cx="9144000" cy="805458"/>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2"/>
          <p:cNvSpPr/>
          <p:nvPr/>
        </p:nvSpPr>
        <p:spPr>
          <a:xfrm>
            <a:off x="0" y="776883"/>
            <a:ext cx="9144000" cy="28575"/>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2"/>
          <p:cNvSpPr/>
          <p:nvPr/>
        </p:nvSpPr>
        <p:spPr>
          <a:xfrm>
            <a:off x="571500" y="357188"/>
            <a:ext cx="8001000" cy="2768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A192F"/>
              </a:buClr>
              <a:buSzPts val="1600"/>
              <a:buFont typeface="Inter ExtraBold"/>
              <a:buNone/>
            </a:pPr>
            <a:r>
              <a:rPr b="1" i="0" lang="en-US" sz="1600" u="none" cap="none" strike="noStrike">
                <a:solidFill>
                  <a:srgbClr val="0A192F"/>
                </a:solidFill>
                <a:latin typeface="Inter ExtraBold"/>
                <a:ea typeface="Inter ExtraBold"/>
                <a:cs typeface="Inter ExtraBold"/>
                <a:sym typeface="Inter ExtraBold"/>
              </a:rPr>
              <a:t>Conclusion : L'accompagnement, levier de la culture DevSecOps</a:t>
            </a:r>
            <a:endParaRPr b="0" i="0" sz="1600" u="none" cap="none" strike="noStrike">
              <a:solidFill>
                <a:schemeClr val="dk1"/>
              </a:solidFill>
              <a:latin typeface="Calibri"/>
              <a:ea typeface="Calibri"/>
              <a:cs typeface="Calibri"/>
              <a:sym typeface="Calibri"/>
            </a:endParaRPr>
          </a:p>
        </p:txBody>
      </p:sp>
      <p:sp>
        <p:nvSpPr>
          <p:cNvPr id="276" name="Google Shape;276;p12"/>
          <p:cNvSpPr/>
          <p:nvPr/>
        </p:nvSpPr>
        <p:spPr>
          <a:xfrm>
            <a:off x="571500" y="1062633"/>
            <a:ext cx="3786188" cy="585788"/>
          </a:xfrm>
          <a:prstGeom prst="rect">
            <a:avLst/>
          </a:prstGeom>
          <a:noFill/>
          <a:ln>
            <a:noFill/>
          </a:ln>
        </p:spPr>
        <p:txBody>
          <a:bodyPr anchorCtr="0" anchor="t" bIns="0" lIns="0" spcFirstLastPara="1" rIns="0" wrap="square" tIns="170050">
            <a:spAutoFit/>
          </a:bodyPr>
          <a:lstStyle/>
          <a:p>
            <a:pPr indent="0" lvl="0" marL="0" marR="0" rtl="0" algn="l">
              <a:spcBef>
                <a:spcPts val="0"/>
              </a:spcBef>
              <a:spcAft>
                <a:spcPts val="0"/>
              </a:spcAft>
              <a:buClr>
                <a:srgbClr val="0A192F"/>
              </a:buClr>
              <a:buSzPts val="1200"/>
              <a:buFont typeface="Inter ExtraBold"/>
              <a:buNone/>
            </a:pPr>
            <a:r>
              <a:rPr b="1" i="0" lang="en-US" sz="1200" u="none" cap="none" strike="noStrike">
                <a:solidFill>
                  <a:srgbClr val="0A192F"/>
                </a:solidFill>
                <a:latin typeface="Inter ExtraBold"/>
                <a:ea typeface="Inter ExtraBold"/>
                <a:cs typeface="Inter ExtraBold"/>
                <a:sym typeface="Inter ExtraBold"/>
              </a:rPr>
              <a:t>CE QUE CETTE OFFRE CHANGE CONCRÈTEMENT</a:t>
            </a:r>
            <a:endParaRPr b="0" i="0" sz="1200" u="none" cap="none" strike="noStrike">
              <a:solidFill>
                <a:schemeClr val="dk1"/>
              </a:solidFill>
              <a:latin typeface="Calibri"/>
              <a:ea typeface="Calibri"/>
              <a:cs typeface="Calibri"/>
              <a:sym typeface="Calibri"/>
            </a:endParaRPr>
          </a:p>
        </p:txBody>
      </p:sp>
      <p:pic>
        <p:nvPicPr>
          <p:cNvPr descr="preencoded.png" id="277" name="Google Shape;277;p12"/>
          <p:cNvPicPr preferRelativeResize="0"/>
          <p:nvPr/>
        </p:nvPicPr>
        <p:blipFill rotWithShape="1">
          <a:blip r:embed="rId4">
            <a:alphaModFix/>
          </a:blip>
          <a:srcRect b="0" l="0" r="0" t="0"/>
          <a:stretch/>
        </p:blipFill>
        <p:spPr>
          <a:xfrm>
            <a:off x="571500" y="1862733"/>
            <a:ext cx="171450" cy="171450"/>
          </a:xfrm>
          <a:prstGeom prst="rect">
            <a:avLst/>
          </a:prstGeom>
          <a:noFill/>
          <a:ln>
            <a:noFill/>
          </a:ln>
        </p:spPr>
      </p:pic>
      <p:sp>
        <p:nvSpPr>
          <p:cNvPr id="278" name="Google Shape;278;p12"/>
          <p:cNvSpPr/>
          <p:nvPr/>
        </p:nvSpPr>
        <p:spPr>
          <a:xfrm>
            <a:off x="885825" y="1827014"/>
            <a:ext cx="3471863" cy="4286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333F58"/>
              </a:buClr>
              <a:buSzPts val="1050"/>
              <a:buFont typeface="Inter Light"/>
              <a:buNone/>
            </a:pPr>
            <a:r>
              <a:rPr b="0" i="0" lang="en-US" sz="1050" u="none" cap="none" strike="noStrike">
                <a:solidFill>
                  <a:srgbClr val="333F58"/>
                </a:solidFill>
                <a:latin typeface="Inter Light"/>
                <a:ea typeface="Inter Light"/>
                <a:cs typeface="Inter Light"/>
                <a:sym typeface="Inter Light"/>
              </a:rPr>
              <a:t>Les développeurs ne sont plus seuls face aux exigences de sécurité.</a:t>
            </a:r>
            <a:endParaRPr b="0" i="0" sz="1050" u="none" cap="none" strike="noStrike">
              <a:solidFill>
                <a:schemeClr val="dk1"/>
              </a:solidFill>
              <a:latin typeface="Calibri"/>
              <a:ea typeface="Calibri"/>
              <a:cs typeface="Calibri"/>
              <a:sym typeface="Calibri"/>
            </a:endParaRPr>
          </a:p>
        </p:txBody>
      </p:sp>
      <p:pic>
        <p:nvPicPr>
          <p:cNvPr descr="preencoded.png" id="279" name="Google Shape;279;p12"/>
          <p:cNvPicPr preferRelativeResize="0"/>
          <p:nvPr/>
        </p:nvPicPr>
        <p:blipFill rotWithShape="1">
          <a:blip r:embed="rId4">
            <a:alphaModFix/>
          </a:blip>
          <a:srcRect b="0" l="0" r="0" t="0"/>
          <a:stretch/>
        </p:blipFill>
        <p:spPr>
          <a:xfrm>
            <a:off x="571500" y="2469952"/>
            <a:ext cx="171450" cy="171450"/>
          </a:xfrm>
          <a:prstGeom prst="rect">
            <a:avLst/>
          </a:prstGeom>
          <a:noFill/>
          <a:ln>
            <a:noFill/>
          </a:ln>
        </p:spPr>
      </p:pic>
      <p:sp>
        <p:nvSpPr>
          <p:cNvPr id="280" name="Google Shape;280;p12"/>
          <p:cNvSpPr/>
          <p:nvPr/>
        </p:nvSpPr>
        <p:spPr>
          <a:xfrm>
            <a:off x="885825" y="2434233"/>
            <a:ext cx="3471863" cy="4286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333F58"/>
              </a:buClr>
              <a:buSzPts val="1050"/>
              <a:buFont typeface="Inter Light"/>
              <a:buNone/>
            </a:pPr>
            <a:r>
              <a:rPr b="0" i="0" lang="en-US" sz="1050" u="none" cap="none" strike="noStrike">
                <a:solidFill>
                  <a:srgbClr val="333F58"/>
                </a:solidFill>
                <a:latin typeface="Inter Light"/>
                <a:ea typeface="Inter Light"/>
                <a:cs typeface="Inter Light"/>
                <a:sym typeface="Inter Light"/>
              </a:rPr>
              <a:t>Les Security Gates et les Pentests deviennent des </a:t>
            </a:r>
            <a:r>
              <a:rPr b="1" i="0" lang="en-US" sz="1000" u="none" cap="none" strike="noStrike">
                <a:solidFill>
                  <a:srgbClr val="0A192F"/>
                </a:solidFill>
                <a:latin typeface="Inter ExtraBold"/>
                <a:ea typeface="Inter ExtraBold"/>
                <a:cs typeface="Inter ExtraBold"/>
                <a:sym typeface="Inter ExtraBold"/>
              </a:rPr>
              <a:t>opportunités d'amélioration</a:t>
            </a:r>
            <a:r>
              <a:rPr b="0" i="0" lang="en-US" sz="1050" u="none" cap="none" strike="noStrike">
                <a:solidFill>
                  <a:srgbClr val="333F58"/>
                </a:solidFill>
                <a:latin typeface="Inter Light"/>
                <a:ea typeface="Inter Light"/>
                <a:cs typeface="Inter Light"/>
                <a:sym typeface="Inter Light"/>
              </a:rPr>
              <a:t>.</a:t>
            </a:r>
            <a:endParaRPr b="0" i="0" sz="1050" u="none" cap="none" strike="noStrike">
              <a:solidFill>
                <a:schemeClr val="dk1"/>
              </a:solidFill>
              <a:latin typeface="Calibri"/>
              <a:ea typeface="Calibri"/>
              <a:cs typeface="Calibri"/>
              <a:sym typeface="Calibri"/>
            </a:endParaRPr>
          </a:p>
        </p:txBody>
      </p:sp>
      <p:pic>
        <p:nvPicPr>
          <p:cNvPr descr="preencoded.png" id="281" name="Google Shape;281;p12"/>
          <p:cNvPicPr preferRelativeResize="0"/>
          <p:nvPr/>
        </p:nvPicPr>
        <p:blipFill rotWithShape="1">
          <a:blip r:embed="rId4">
            <a:alphaModFix/>
          </a:blip>
          <a:srcRect b="0" l="0" r="0" t="0"/>
          <a:stretch/>
        </p:blipFill>
        <p:spPr>
          <a:xfrm>
            <a:off x="571500" y="3077170"/>
            <a:ext cx="171450" cy="171450"/>
          </a:xfrm>
          <a:prstGeom prst="rect">
            <a:avLst/>
          </a:prstGeom>
          <a:noFill/>
          <a:ln>
            <a:noFill/>
          </a:ln>
        </p:spPr>
      </p:pic>
      <p:sp>
        <p:nvSpPr>
          <p:cNvPr id="282" name="Google Shape;282;p12"/>
          <p:cNvSpPr/>
          <p:nvPr/>
        </p:nvSpPr>
        <p:spPr>
          <a:xfrm>
            <a:off x="885825" y="3041452"/>
            <a:ext cx="3471863" cy="4286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333F58"/>
              </a:buClr>
              <a:buSzPts val="1050"/>
              <a:buFont typeface="Inter Light"/>
              <a:buNone/>
            </a:pPr>
            <a:r>
              <a:rPr b="0" i="0" lang="en-US" sz="1050" u="none" cap="none" strike="noStrike">
                <a:solidFill>
                  <a:srgbClr val="333F58"/>
                </a:solidFill>
                <a:latin typeface="Inter Light"/>
                <a:ea typeface="Inter Light"/>
                <a:cs typeface="Inter Light"/>
                <a:sym typeface="Inter Light"/>
              </a:rPr>
              <a:t>La sécurité s'intègre naturellement dans le cycle de développement.</a:t>
            </a:r>
            <a:endParaRPr b="0" i="0" sz="1050" u="none" cap="none" strike="noStrike">
              <a:solidFill>
                <a:schemeClr val="dk1"/>
              </a:solidFill>
              <a:latin typeface="Calibri"/>
              <a:ea typeface="Calibri"/>
              <a:cs typeface="Calibri"/>
              <a:sym typeface="Calibri"/>
            </a:endParaRPr>
          </a:p>
        </p:txBody>
      </p:sp>
      <p:sp>
        <p:nvSpPr>
          <p:cNvPr id="283" name="Google Shape;283;p12"/>
          <p:cNvSpPr/>
          <p:nvPr/>
        </p:nvSpPr>
        <p:spPr>
          <a:xfrm>
            <a:off x="4786313" y="1062633"/>
            <a:ext cx="3786188" cy="378619"/>
          </a:xfrm>
          <a:prstGeom prst="rect">
            <a:avLst/>
          </a:prstGeom>
          <a:noFill/>
          <a:ln>
            <a:noFill/>
          </a:ln>
        </p:spPr>
        <p:txBody>
          <a:bodyPr anchorCtr="0" anchor="t" bIns="0" lIns="0" spcFirstLastPara="1" rIns="0" wrap="square" tIns="170050">
            <a:spAutoFit/>
          </a:bodyPr>
          <a:lstStyle/>
          <a:p>
            <a:pPr indent="0" lvl="0" marL="0" marR="0" rtl="0" algn="l">
              <a:spcBef>
                <a:spcPts val="0"/>
              </a:spcBef>
              <a:spcAft>
                <a:spcPts val="0"/>
              </a:spcAft>
              <a:buClr>
                <a:srgbClr val="0A192F"/>
              </a:buClr>
              <a:buSzPts val="1200"/>
              <a:buFont typeface="Inter ExtraBold"/>
              <a:buNone/>
            </a:pPr>
            <a:r>
              <a:rPr b="1" i="0" lang="en-US" sz="1200" u="none" cap="none" strike="noStrike">
                <a:solidFill>
                  <a:srgbClr val="0A192F"/>
                </a:solidFill>
                <a:latin typeface="Inter ExtraBold"/>
                <a:ea typeface="Inter ExtraBold"/>
                <a:cs typeface="Inter ExtraBold"/>
                <a:sym typeface="Inter ExtraBold"/>
              </a:rPr>
              <a:t>NOTRE ENGAGEMENT</a:t>
            </a:r>
            <a:endParaRPr b="0" i="0" sz="1200" u="none" cap="none" strike="noStrike">
              <a:solidFill>
                <a:schemeClr val="dk1"/>
              </a:solidFill>
              <a:latin typeface="Calibri"/>
              <a:ea typeface="Calibri"/>
              <a:cs typeface="Calibri"/>
              <a:sym typeface="Calibri"/>
            </a:endParaRPr>
          </a:p>
        </p:txBody>
      </p:sp>
      <p:sp>
        <p:nvSpPr>
          <p:cNvPr id="284" name="Google Shape;284;p12"/>
          <p:cNvSpPr/>
          <p:nvPr/>
        </p:nvSpPr>
        <p:spPr>
          <a:xfrm>
            <a:off x="4786313" y="1619845"/>
            <a:ext cx="3786188" cy="1713049"/>
          </a:xfrm>
          <a:prstGeom prst="rect">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2"/>
          <p:cNvSpPr/>
          <p:nvPr/>
        </p:nvSpPr>
        <p:spPr>
          <a:xfrm>
            <a:off x="4786313" y="1619845"/>
            <a:ext cx="28575" cy="1713049"/>
          </a:xfrm>
          <a:prstGeom prst="rect">
            <a:avLst/>
          </a:prstGeom>
          <a:solidFill>
            <a:srgbClr val="F4A2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6" name="Google Shape;286;p12"/>
          <p:cNvPicPr preferRelativeResize="0"/>
          <p:nvPr/>
        </p:nvPicPr>
        <p:blipFill rotWithShape="1">
          <a:blip r:embed="rId5">
            <a:alphaModFix amt="50000"/>
          </a:blip>
          <a:srcRect b="0" l="0" r="0" t="0"/>
          <a:stretch/>
        </p:blipFill>
        <p:spPr>
          <a:xfrm>
            <a:off x="5000625" y="1834158"/>
            <a:ext cx="151805" cy="171450"/>
          </a:xfrm>
          <a:prstGeom prst="rect">
            <a:avLst/>
          </a:prstGeom>
          <a:noFill/>
          <a:ln>
            <a:noFill/>
          </a:ln>
        </p:spPr>
      </p:pic>
      <p:sp>
        <p:nvSpPr>
          <p:cNvPr id="287" name="Google Shape;287;p12"/>
          <p:cNvSpPr/>
          <p:nvPr/>
        </p:nvSpPr>
        <p:spPr>
          <a:xfrm>
            <a:off x="5000625" y="2112764"/>
            <a:ext cx="3357563" cy="1005818"/>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Clr>
                <a:srgbClr val="333F58"/>
              </a:buClr>
              <a:buSzPts val="1150"/>
              <a:buFont typeface="Inter Light"/>
              <a:buNone/>
            </a:pPr>
            <a:r>
              <a:rPr b="0" i="1" lang="en-US" sz="1150" u="none" cap="none" strike="noStrike">
                <a:solidFill>
                  <a:srgbClr val="333F58"/>
                </a:solidFill>
                <a:latin typeface="Inter Light"/>
                <a:ea typeface="Inter Light"/>
                <a:cs typeface="Inter Light"/>
                <a:sym typeface="Inter Light"/>
              </a:rPr>
              <a:t>Chaque développeur qui passe par notre offre repart avec une meilleure compréhension de la sécurité applicative et les moyens concrets de livrer du code sûr.</a:t>
            </a:r>
            <a:endParaRPr b="0" i="0" sz="1150" u="none" cap="none" strike="noStrike">
              <a:solidFill>
                <a:schemeClr val="dk1"/>
              </a:solidFill>
              <a:latin typeface="Calibri"/>
              <a:ea typeface="Calibri"/>
              <a:cs typeface="Calibri"/>
              <a:sym typeface="Calibri"/>
            </a:endParaRPr>
          </a:p>
        </p:txBody>
      </p:sp>
      <p:sp>
        <p:nvSpPr>
          <p:cNvPr id="288" name="Google Shape;288;p12"/>
          <p:cNvSpPr/>
          <p:nvPr/>
        </p:nvSpPr>
        <p:spPr>
          <a:xfrm>
            <a:off x="4786313" y="3790094"/>
            <a:ext cx="3786188" cy="17323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A192F"/>
              </a:buClr>
              <a:buSzPts val="1000"/>
              <a:buFont typeface="Inter ExtraBold"/>
              <a:buNone/>
            </a:pPr>
            <a:r>
              <a:rPr b="1" i="0" lang="en-US" sz="1000" u="none" cap="none" strike="noStrike">
                <a:solidFill>
                  <a:srgbClr val="0A192F"/>
                </a:solidFill>
                <a:latin typeface="Inter ExtraBold"/>
                <a:ea typeface="Inter ExtraBold"/>
                <a:cs typeface="Inter ExtraBold"/>
                <a:sym typeface="Inter ExtraBold"/>
              </a:rPr>
              <a:t>Prochain jalon</a:t>
            </a:r>
            <a:endParaRPr b="0" i="0" sz="1000" u="none" cap="none" strike="noStrike">
              <a:solidFill>
                <a:schemeClr val="dk1"/>
              </a:solidFill>
              <a:latin typeface="Calibri"/>
              <a:ea typeface="Calibri"/>
              <a:cs typeface="Calibri"/>
              <a:sym typeface="Calibri"/>
            </a:endParaRPr>
          </a:p>
        </p:txBody>
      </p:sp>
      <p:sp>
        <p:nvSpPr>
          <p:cNvPr id="289" name="Google Shape;289;p12"/>
          <p:cNvSpPr/>
          <p:nvPr/>
        </p:nvSpPr>
        <p:spPr>
          <a:xfrm>
            <a:off x="4786313" y="4034768"/>
            <a:ext cx="3786188" cy="385763"/>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333F58"/>
              </a:buClr>
              <a:buSzPts val="950"/>
              <a:buFont typeface="Inter Light"/>
              <a:buNone/>
            </a:pPr>
            <a:r>
              <a:rPr b="0" i="0" lang="en-US" sz="950" u="none" cap="none" strike="noStrike">
                <a:solidFill>
                  <a:srgbClr val="333F58"/>
                </a:solidFill>
                <a:latin typeface="Inter Light"/>
                <a:ea typeface="Inter Light"/>
                <a:cs typeface="Inter Light"/>
                <a:sym typeface="Inter Light"/>
              </a:rPr>
              <a:t>Présentation du tableau de bord de suivi et lancement du catalogue de formations — </a:t>
            </a:r>
            <a:r>
              <a:rPr b="1" i="0" lang="en-US" sz="900" u="none" cap="none" strike="noStrike">
                <a:solidFill>
                  <a:srgbClr val="0A192F"/>
                </a:solidFill>
                <a:latin typeface="Inter ExtraBold"/>
                <a:ea typeface="Inter ExtraBold"/>
                <a:cs typeface="Inter ExtraBold"/>
                <a:sym typeface="Inter ExtraBold"/>
              </a:rPr>
              <a:t>T3 2026</a:t>
            </a:r>
            <a:r>
              <a:rPr b="0" i="0" lang="en-US" sz="950" u="none" cap="none" strike="noStrike">
                <a:solidFill>
                  <a:srgbClr val="333F58"/>
                </a:solidFill>
                <a:latin typeface="Inter Light"/>
                <a:ea typeface="Inter Light"/>
                <a:cs typeface="Inter Light"/>
                <a:sym typeface="Inter Light"/>
              </a:rPr>
              <a:t>.</a:t>
            </a:r>
            <a:endParaRPr b="0" i="0" sz="950" u="none" cap="none" strike="noStrike">
              <a:solidFill>
                <a:schemeClr val="dk1"/>
              </a:solidFill>
              <a:latin typeface="Calibri"/>
              <a:ea typeface="Calibri"/>
              <a:cs typeface="Calibri"/>
              <a:sym typeface="Calibri"/>
            </a:endParaRPr>
          </a:p>
        </p:txBody>
      </p:sp>
      <p:sp>
        <p:nvSpPr>
          <p:cNvPr id="290" name="Google Shape;290;p12"/>
          <p:cNvSpPr/>
          <p:nvPr/>
        </p:nvSpPr>
        <p:spPr>
          <a:xfrm>
            <a:off x="2831604" y="4591980"/>
            <a:ext cx="3480792" cy="2768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A192F"/>
              </a:buClr>
              <a:buSzPts val="1600"/>
              <a:buFont typeface="Inter ExtraBold"/>
              <a:buNone/>
            </a:pPr>
            <a:r>
              <a:rPr b="1" i="0" lang="en-US" sz="1600" u="none" cap="none" strike="noStrike">
                <a:solidFill>
                  <a:srgbClr val="0A192F"/>
                </a:solidFill>
                <a:latin typeface="Inter ExtraBold"/>
                <a:ea typeface="Inter ExtraBold"/>
                <a:cs typeface="Inter ExtraBold"/>
                <a:sym typeface="Inter ExtraBold"/>
              </a:rPr>
              <a:t>QUESTIONS &amp; ÉCHANGES</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2026-04-28T07:23:22Z</dcterms:created>
  <dc:creator>PptxGenJS</dc:creator>
</cp:coreProperties>
</file>